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F0E9"/>
    <a:srgbClr val="3CDC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C7857E-F053-E74F-11A9-4F12E9060B86}" v="1" dt="2026-05-26T10:42:15.489"/>
    <p1510:client id="{577A3238-6067-7F1F-4819-B79521F2373A}" v="59" dt="2026-05-25T18:59:26.866"/>
    <p1510:client id="{B4C942F0-18A1-4CCB-B5EF-B6D94D452610}" v="660" dt="2026-05-26T11:07:10.077"/>
    <p1510:client id="{F892CF49-61F8-420E-83DD-1155C7A74762}" v="686" dt="2026-05-26T13:34:50.3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7B15CE-F109-49F8-A3B1-926715AD165D}" type="datetimeFigureOut">
              <a:t>26/05/2026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AAAB6-C205-46D6-B19F-25E3C7090937}" type="slidenum"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4503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Buenas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tardes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,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nuestro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grupo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desarrollado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un  "Sistema de Click and Collect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Inteligente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". Antes de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entrar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en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cómo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lo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hemos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construido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,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voy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explicar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de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qué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va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problema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y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nuestra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propuesta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.</a:t>
            </a:r>
            <a:endParaRPr lang="en-US"/>
          </a:p>
          <a:p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Primero, ¿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qué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es el </a:t>
            </a:r>
            <a:r>
              <a:rPr lang="en-US" i="1">
                <a:solidFill>
                  <a:srgbClr val="6E6C68"/>
                </a:solidFill>
                <a:highlight>
                  <a:srgbClr val="FDFDFC"/>
                </a:highlight>
              </a:rPr>
              <a:t>Click and Collect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? Es un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modelo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de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compra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 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donde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cliente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hace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pedido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 online y,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en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lugar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de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esperar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un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envío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a casa,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pasa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a 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recogerlo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 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él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mismo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por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establecimiento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. Donde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por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ejemplo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en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un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supermercado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: 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cliente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llegaría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en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coche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, y le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cargan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la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compra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directamente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en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maletero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, sin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tener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que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bajarse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ni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hacer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cola.</a:t>
            </a:r>
            <a:endParaRPr lang="en-GB"/>
          </a:p>
          <a:p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Es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muy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cómodo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,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pero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tiene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un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cuello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de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botella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que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mucha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gente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ha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sufrido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, y es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justo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lo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que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vamos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atacar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nosotros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. </a:t>
            </a:r>
            <a:endParaRPr lang="en-GB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AAAB6-C205-46D6-B19F-25E3C7090937}" type="slidenum"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4288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problema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está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en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aparcamiento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. Hoy,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cuando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llegas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recoger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tu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pedido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,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normalmente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usas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el parking general, 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mismo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que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todo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mundo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. Eso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provoca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dos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cosas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:</a:t>
            </a:r>
            <a:endParaRPr lang="en-US"/>
          </a:p>
          <a:p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Una: 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pierdes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tiempo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dando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vueltas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para encontrar sitio,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igual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que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en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una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compra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normal —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cuando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precisamente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la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gracia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del Click and Collect era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ahorrar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tiempo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.</a:t>
            </a:r>
            <a:endParaRPr lang="en-GB"/>
          </a:p>
          <a:p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Y dos: 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una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vez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aparcas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,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tienes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que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 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avisar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manualmente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 de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que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has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llegado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y de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dónde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estás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: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llamar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, mandar un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mensaje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por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la app,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dar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tu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plaza… Es un paso manual, lento y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propenso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errores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, tanto para 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cliente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como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para 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trabajador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que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tiene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que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salir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buscarte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.</a:t>
            </a:r>
            <a:endParaRPr lang="en-GB"/>
          </a:p>
          <a:p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En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resumen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: 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modelo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es bueno,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pero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la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parte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del parking lo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hace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ineficiente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. </a:t>
            </a:r>
            <a:endParaRPr lang="en-GB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AAAB6-C205-46D6-B19F-25E3C7090937}" type="slidenum"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8370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Nuestra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propuesta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es 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separar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una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zona del parking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ya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existente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y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dedicarla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en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exclusiva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al Click and Collect,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como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veis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en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esquema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: el parking general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por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un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lado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, y un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subconjunto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de plazas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reservadas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para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recogidas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por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otro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.</a:t>
            </a:r>
            <a:endParaRPr lang="en-US"/>
          </a:p>
          <a:p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acceso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esa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zona se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controla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con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una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 barrera con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cámara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. Cuando un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coche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llega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, la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cámara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 lee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su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matrícula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 y, 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partir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de ahí, 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sistema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decide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automáticamente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si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puede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entrar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— sin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que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cliente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tenga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que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avisar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de nada.</a:t>
            </a:r>
            <a:endParaRPr lang="en-GB"/>
          </a:p>
          <a:p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Y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toda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la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información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del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proceso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(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si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puede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pasar,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qué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plaza le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toca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,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cuánto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queda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para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su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pedido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) se le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muestra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en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 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pantallas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: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una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en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la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propia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barrera y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otra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en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la plaza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asignada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.</a:t>
            </a:r>
            <a:endParaRPr lang="en-GB"/>
          </a:p>
          <a:p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Así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resolvemos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los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dos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problemas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de antes: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ni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das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vueltas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buscando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sitio,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ni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tienes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que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notificar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nada a mano.</a:t>
            </a:r>
            <a:endParaRPr lang="en-GB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AAAB6-C205-46D6-B19F-25E3C7090937}" type="slidenum"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6542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1.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Llega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coche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 y se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detiene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frente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a la barrera.</a:t>
            </a:r>
            <a:endParaRPr lang="en-US"/>
          </a:p>
          <a:p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2. Se lee la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matrícula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: la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cámara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la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capta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y 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sistema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la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reconoce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automáticamente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.</a:t>
            </a:r>
            <a:endParaRPr lang="en-GB"/>
          </a:p>
          <a:p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3. ¿Tiene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pedido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para hoy? 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sistema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lo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comprueba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al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instante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.</a:t>
            </a:r>
            <a:endParaRPr lang="en-GB"/>
          </a:p>
          <a:p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4. Si lo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tiene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, se le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asigna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plaza: se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abre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la barrera y la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pantalla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le indica 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qué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plaza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dirigirse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. </a:t>
            </a:r>
            <a:r>
              <a:rPr lang="en-US" i="1">
                <a:solidFill>
                  <a:srgbClr val="6E6C68"/>
                </a:solidFill>
                <a:highlight>
                  <a:srgbClr val="FDFDFC"/>
                </a:highlight>
              </a:rPr>
              <a:t>(Si no </a:t>
            </a:r>
            <a:r>
              <a:rPr lang="en-US" i="1" err="1">
                <a:solidFill>
                  <a:srgbClr val="6E6C68"/>
                </a:solidFill>
                <a:highlight>
                  <a:srgbClr val="FDFDFC"/>
                </a:highlight>
              </a:rPr>
              <a:t>tuviera</a:t>
            </a:r>
            <a:r>
              <a:rPr lang="en-US" i="1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i="1" err="1">
                <a:solidFill>
                  <a:srgbClr val="6E6C68"/>
                </a:solidFill>
                <a:highlight>
                  <a:srgbClr val="FDFDFC"/>
                </a:highlight>
              </a:rPr>
              <a:t>pedido</a:t>
            </a:r>
            <a:r>
              <a:rPr lang="en-US" i="1">
                <a:solidFill>
                  <a:srgbClr val="6E6C68"/>
                </a:solidFill>
                <a:highlight>
                  <a:srgbClr val="FDFDFC"/>
                </a:highlight>
              </a:rPr>
              <a:t>, </a:t>
            </a:r>
            <a:r>
              <a:rPr lang="en-US" i="1" err="1">
                <a:solidFill>
                  <a:srgbClr val="6E6C68"/>
                </a:solidFill>
                <a:highlight>
                  <a:srgbClr val="FDFDFC"/>
                </a:highlight>
              </a:rPr>
              <a:t>simplemente</a:t>
            </a:r>
            <a:r>
              <a:rPr lang="en-US" i="1">
                <a:solidFill>
                  <a:srgbClr val="6E6C68"/>
                </a:solidFill>
                <a:highlight>
                  <a:srgbClr val="FDFDFC"/>
                </a:highlight>
              </a:rPr>
              <a:t> se le </a:t>
            </a:r>
            <a:r>
              <a:rPr lang="en-US" i="1" err="1">
                <a:solidFill>
                  <a:srgbClr val="6E6C68"/>
                </a:solidFill>
                <a:highlight>
                  <a:srgbClr val="FDFDFC"/>
                </a:highlight>
              </a:rPr>
              <a:t>deniega</a:t>
            </a:r>
            <a:r>
              <a:rPr lang="en-US" i="1">
                <a:solidFill>
                  <a:srgbClr val="6E6C68"/>
                </a:solidFill>
                <a:highlight>
                  <a:srgbClr val="FDFDFC"/>
                </a:highlight>
              </a:rPr>
              <a:t> el </a:t>
            </a:r>
            <a:r>
              <a:rPr lang="en-US" i="1" err="1">
                <a:solidFill>
                  <a:srgbClr val="6E6C68"/>
                </a:solidFill>
                <a:highlight>
                  <a:srgbClr val="FDFDFC"/>
                </a:highlight>
              </a:rPr>
              <a:t>acceso</a:t>
            </a:r>
            <a:r>
              <a:rPr lang="en-US" i="1">
                <a:solidFill>
                  <a:srgbClr val="6E6C68"/>
                </a:solidFill>
                <a:highlight>
                  <a:srgbClr val="FDFDFC"/>
                </a:highlight>
              </a:rPr>
              <a:t>.)</a:t>
            </a:r>
            <a:endParaRPr lang="en-GB"/>
          </a:p>
          <a:p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5. En la plaza, 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una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pantalla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le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muestra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una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 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cuenta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atrás con 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tiempo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aproximado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hasta la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entrega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.</a:t>
            </a:r>
            <a:endParaRPr lang="en-GB"/>
          </a:p>
          <a:p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6. Cuando se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entrega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pedido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, 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esa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plaza se libera 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automáticamente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y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queda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lista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para 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siguiente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coche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.</a:t>
            </a:r>
            <a:endParaRPr lang="en-GB"/>
          </a:p>
          <a:p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Y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esto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es, 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grandes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rasgos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, lo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que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hace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el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sistema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.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Ahora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mis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compañeros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os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va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n 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explicar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 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cómo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 lo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hemos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montado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por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dentro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: la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arquitectura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y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los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agentes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que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hay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detrás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de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cada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uno de </a:t>
            </a:r>
            <a:r>
              <a:rPr lang="en-US" err="1">
                <a:solidFill>
                  <a:srgbClr val="6E6C68"/>
                </a:solidFill>
                <a:highlight>
                  <a:srgbClr val="FDFDFC"/>
                </a:highlight>
              </a:rPr>
              <a:t>estos</a:t>
            </a:r>
            <a:r>
              <a:rPr lang="en-US">
                <a:solidFill>
                  <a:srgbClr val="6E6C68"/>
                </a:solidFill>
                <a:highlight>
                  <a:srgbClr val="FDFDFC"/>
                </a:highlight>
              </a:rPr>
              <a:t> pasos.</a:t>
            </a:r>
            <a:endParaRPr lang="en-GB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AAAB6-C205-46D6-B19F-25E3C7090937}" type="slidenum"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771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Escala grises: Se elimina información de color</a:t>
            </a:r>
          </a:p>
          <a:p>
            <a:r>
              <a:rPr lang="es-ES"/>
              <a:t>Filtro gaussiano: Difumina ligeramente la imagen mezclando pixeles vecinos: Elimina ruido y detalles irrelevantes</a:t>
            </a:r>
          </a:p>
          <a:p>
            <a:r>
              <a:rPr lang="es-ES"/>
              <a:t>Bordes: Si hay borde detecta en blando, sino en negro es el fondo</a:t>
            </a:r>
          </a:p>
          <a:p>
            <a:endParaRPr lang="es-ES"/>
          </a:p>
          <a:p>
            <a:r>
              <a:rPr lang="es-ES"/>
              <a:t>Contornos: Detecta regiones cerradas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AAAB6-C205-46D6-B19F-25E3C7090937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3645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06B0B3-C624-1C33-C5A8-C271F3908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4334E5-0507-37AE-4ED4-03224B346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4E7FA5-F944-C04E-EC63-54C36F73B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422B7-F566-4DEA-AC45-372EE616A080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6EAAAC-0769-544E-7EAA-66CEACC3C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6E008A-A223-D4E7-192F-178112F4E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C4F01-461F-49F8-BD87-F6F0B5AC94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1724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122CBC-E76B-4EF7-D51E-6755E3FC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69DDD1-471A-9273-E331-5627FB696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62C2B3-FFBD-482A-E882-8FCA99ADF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422B7-F566-4DEA-AC45-372EE616A080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36C73B-2C56-2914-375B-DF9D83CBE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49BF3D-4A45-6E03-AAEF-3F20321F3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C4F01-461F-49F8-BD87-F6F0B5AC94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0969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81986-6860-6902-8F4C-C7A81C618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BEF855-06AF-6E39-F9E5-D6A1216F9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4E7D6F-2CF7-5E64-A724-6B1F4ADC9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422B7-F566-4DEA-AC45-372EE616A080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10BF53-4E01-D81A-5796-879A62453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BF790A-3ECB-52AD-AB88-E0F645373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C4F01-461F-49F8-BD87-F6F0B5AC94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5452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DE63FF-47C7-3A03-E1EB-F0379CB95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72F74F-CAB9-FDEB-8971-3688724726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FAEBF18-F4EB-8C72-68C8-E2A12BCCF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215053-CD00-91B5-A78D-540E29C02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422B7-F566-4DEA-AC45-372EE616A080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96E32D-11F2-ADB0-B515-347D64482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1B5890-B51D-B856-A2C6-9516081F9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C4F01-461F-49F8-BD87-F6F0B5AC94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6935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55957-7B9C-FFD6-5BB2-0DF339A79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32DCC0-92DE-BE86-C903-C41CA0FFC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76021E-1ED2-6330-1A14-0264EE336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C3A3A8E-3428-4D18-9543-F89236CE38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0516AA8-64C8-3BEA-1870-094CC07F40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C897B30-A179-06C5-1141-73D899DE9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422B7-F566-4DEA-AC45-372EE616A080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69B055A-36EF-B72C-8D78-E355C7063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0D45212-AC9B-7D04-7F56-E4E8E67AF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C4F01-461F-49F8-BD87-F6F0B5AC94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61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8A7E6C-94EA-32B5-3297-DE6E97F10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2ED0CBE-4896-5813-6C45-04D20E7B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422B7-F566-4DEA-AC45-372EE616A080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1A96AF9-2A0E-8DD8-D5BA-626F46159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F7669CE-6120-2A66-D6B5-E09AA9353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C4F01-461F-49F8-BD87-F6F0B5AC94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098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4100BEA-64D6-AD1F-7C01-2613ABEEB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422B7-F566-4DEA-AC45-372EE616A080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624F311-D48A-882D-DCE1-6CD6A05C8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0C2A05-689A-FFA6-481A-789F9B7A9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C4F01-461F-49F8-BD87-F6F0B5AC94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4163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B0A9E9-DF2E-1245-0137-F3E10CF6A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AF984E-8BEC-E56E-6AE7-98195057D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F096A8-0CC2-1E0A-43AF-89099428AD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F245A7-B686-DB63-2182-CE88F4572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422B7-F566-4DEA-AC45-372EE616A080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98F707-54B6-7750-2D67-1BF8237FA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C77DA9-CB84-0041-B068-733DBCF03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C4F01-461F-49F8-BD87-F6F0B5AC94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5309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F4FEDE-5F16-ABF1-FCBA-3F2A82ED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CAC82B6-4972-F927-43D3-9F925ADE92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A1044B9-CD12-A829-03A0-0C46D4BB4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49579F-36C1-AB58-3C51-FC6D820DD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422B7-F566-4DEA-AC45-372EE616A080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7261DC-CA92-5EC7-E913-609028FD9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905B67-0BDE-8996-58C7-E60DEC2C2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C4F01-461F-49F8-BD87-F6F0B5AC94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1647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7D63A3-FE83-CADD-434B-B03647779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3497449-7CBF-81ED-15E0-3F11C9D9D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F8FCE4-46BD-BAF0-EA25-8C094B12B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422B7-F566-4DEA-AC45-372EE616A080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DE89F9-3185-7F22-3A43-EF9236C2D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268D18-42BC-54C9-EE82-33DC12CA5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C4F01-461F-49F8-BD87-F6F0B5AC94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9392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0B599CD-61E8-2907-5E61-FE471F172B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AD45A78-F259-5A6B-ABE4-707579B2D9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AF2616-B644-580D-E5AD-82DB9BE2F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422B7-F566-4DEA-AC45-372EE616A080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450A45-3640-5B88-8322-F1DBE0A74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726284-18C0-52D1-B8BB-C70AD8E7A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C4F01-461F-49F8-BD87-F6F0B5AC94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6985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62B42D5-4AB2-B1EB-03A5-BEDEBA6A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457CF4-6434-DB95-BBC9-08D2BAF81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36C664-78FE-AA28-F559-818A24AEA8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E422B7-F566-4DEA-AC45-372EE616A080}" type="datetimeFigureOut">
              <a:rPr lang="es-ES" smtClean="0"/>
              <a:t>26/05/2026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30A636-9649-B8A8-63D0-6E722449A3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B06FD9-3BA4-A35E-B9C9-6A6BEAB773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C4F01-461F-49F8-BD87-F6F0B5AC94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1072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AFD585-BC59-AE8A-8A78-48BA46062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9618" y="1497052"/>
            <a:ext cx="7712279" cy="2820797"/>
          </a:xfrm>
        </p:spPr>
        <p:txBody>
          <a:bodyPr>
            <a:normAutofit/>
          </a:bodyPr>
          <a:lstStyle/>
          <a:p>
            <a:pPr fontAlgn="base"/>
            <a:r>
              <a:rPr lang="en-US" b="1"/>
              <a:t>Click and Collect</a:t>
            </a:r>
            <a:r>
              <a:rPr lang="en-US"/>
              <a:t>​</a:t>
            </a:r>
            <a:br>
              <a:rPr lang="en-US"/>
            </a:br>
            <a:r>
              <a:rPr lang="en-US" b="1" err="1"/>
              <a:t>Inteligente</a:t>
            </a:r>
            <a:br>
              <a:rPr lang="en-US"/>
            </a:b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BDFB87-7918-4D27-9A64-9B6F8D3C2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96988"/>
            <a:ext cx="9144000" cy="1655762"/>
          </a:xfrm>
        </p:spPr>
        <p:txBody>
          <a:bodyPr/>
          <a:lstStyle/>
          <a:p>
            <a:r>
              <a:rPr lang="en-US"/>
              <a:t>Automatización  de C&amp;C con un </a:t>
            </a:r>
            <a:r>
              <a:rPr lang="en-US" b="1"/>
              <a:t>sistema multiagente</a:t>
            </a:r>
            <a:r>
              <a:rPr lang="en-US"/>
              <a:t> en JADE</a:t>
            </a:r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40A3A3C-602E-499F-CC9D-813D107BEC7F}"/>
              </a:ext>
            </a:extLst>
          </p:cNvPr>
          <p:cNvSpPr txBox="1"/>
          <p:nvPr/>
        </p:nvSpPr>
        <p:spPr>
          <a:xfrm>
            <a:off x="4962089" y="5159229"/>
            <a:ext cx="29203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600"/>
              <a:t>Iván Arias de Dios​</a:t>
            </a:r>
          </a:p>
          <a:p>
            <a:pPr fontAlgn="base"/>
            <a:r>
              <a:rPr lang="en-US" sz="1600"/>
              <a:t>Hugo Lahoz Vives​</a:t>
            </a:r>
          </a:p>
          <a:p>
            <a:pPr fontAlgn="base"/>
            <a:r>
              <a:rPr lang="en-US" sz="1600"/>
              <a:t>Víctor M. Vergara Martínez​</a:t>
            </a:r>
          </a:p>
          <a:p>
            <a:pPr fontAlgn="base"/>
            <a:r>
              <a:rPr lang="en-US" sz="1600"/>
              <a:t>André </a:t>
            </a:r>
            <a:r>
              <a:rPr lang="en-US" sz="1600" err="1"/>
              <a:t>Juaranz</a:t>
            </a:r>
            <a:r>
              <a:rPr lang="en-US" sz="1600"/>
              <a:t> Domínguez​</a:t>
            </a:r>
          </a:p>
          <a:p>
            <a:pPr fontAlgn="base"/>
            <a:r>
              <a:rPr lang="en-US" sz="1600"/>
              <a:t>Víctor Garrote Martín</a:t>
            </a:r>
          </a:p>
          <a:p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7213DAC-D418-46E6-A1ED-532163E4A1FE}"/>
              </a:ext>
            </a:extLst>
          </p:cNvPr>
          <p:cNvSpPr txBox="1"/>
          <p:nvPr/>
        </p:nvSpPr>
        <p:spPr>
          <a:xfrm>
            <a:off x="112552" y="96257"/>
            <a:ext cx="2822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/>
              <a:t>Sistemas Inteligentes | UPM</a:t>
            </a:r>
          </a:p>
        </p:txBody>
      </p:sp>
    </p:spTree>
    <p:extLst>
      <p:ext uri="{BB962C8B-B14F-4D97-AF65-F5344CB8AC3E}">
        <p14:creationId xmlns:p14="http://schemas.microsoft.com/office/powerpoint/2010/main" val="2407174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AD79F-0A1F-6789-B8B3-532161ACD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282" y="42579"/>
            <a:ext cx="10515600" cy="1325563"/>
          </a:xfrm>
        </p:spPr>
        <p:txBody>
          <a:bodyPr/>
          <a:lstStyle/>
          <a:p>
            <a:r>
              <a:rPr lang="es-ES" b="1"/>
              <a:t>El problema de eficiencia del Click and </a:t>
            </a:r>
            <a:r>
              <a:rPr lang="es-ES" b="1" err="1"/>
              <a:t>Collect</a:t>
            </a:r>
            <a:endParaRPr lang="es-ES" b="1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4FC441-4865-81E0-66D5-EC5EF0F8E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565" y="1760234"/>
            <a:ext cx="3175932" cy="50651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ES" b="1"/>
              <a:t>Uso del Parking general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A3A91A9-7246-DB10-4474-51E111AB0E52}"/>
              </a:ext>
            </a:extLst>
          </p:cNvPr>
          <p:cNvSpPr txBox="1"/>
          <p:nvPr/>
        </p:nvSpPr>
        <p:spPr>
          <a:xfrm>
            <a:off x="1169565" y="4958139"/>
            <a:ext cx="4010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/>
              <a:t>Provoca que el cliente pierda tiempo teniendo que buscar un aparcamiento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394399F-1301-73DE-2116-4D0CCA2CD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906" y="2247498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85271EA-1D4E-9B77-AF9D-1D18B6ABC57E}"/>
              </a:ext>
            </a:extLst>
          </p:cNvPr>
          <p:cNvSpPr txBox="1"/>
          <p:nvPr/>
        </p:nvSpPr>
        <p:spPr>
          <a:xfrm>
            <a:off x="7086337" y="1456725"/>
            <a:ext cx="34094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/>
              <a:t>Necesidad de notificar manualmente la llegada 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52EFAAA-FB68-C19D-9CC0-4F67A5E44851}"/>
              </a:ext>
            </a:extLst>
          </p:cNvPr>
          <p:cNvCxnSpPr/>
          <p:nvPr/>
        </p:nvCxnSpPr>
        <p:spPr>
          <a:xfrm>
            <a:off x="5842933" y="1581325"/>
            <a:ext cx="0" cy="4454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E87D29E-D847-29D3-1579-BB1846EC7852}"/>
              </a:ext>
            </a:extLst>
          </p:cNvPr>
          <p:cNvSpPr txBox="1"/>
          <p:nvPr/>
        </p:nvSpPr>
        <p:spPr>
          <a:xfrm>
            <a:off x="6941628" y="4958140"/>
            <a:ext cx="3698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/>
              <a:t>El cliente tiene que notificar manualmente que ha llegado y su posición</a:t>
            </a:r>
          </a:p>
        </p:txBody>
      </p:sp>
      <p:pic>
        <p:nvPicPr>
          <p:cNvPr id="1034" name="Picture 10" descr="Símbolo de interfaz de contorno de campana de notificación - Iconos gratis  de interfaz">
            <a:extLst>
              <a:ext uri="{FF2B5EF4-FFF2-40B4-BE49-F238E27FC236}">
                <a16:creationId xmlns:a16="http://schemas.microsoft.com/office/drawing/2014/main" id="{5C787C33-52FC-5D95-F290-CF3AA8DE1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5741" y="2658839"/>
            <a:ext cx="2029435" cy="202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9643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223F51-28C2-1304-4451-D2F8CE7E9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70" y="313360"/>
            <a:ext cx="4019026" cy="889029"/>
          </a:xfrm>
        </p:spPr>
        <p:txBody>
          <a:bodyPr/>
          <a:lstStyle/>
          <a:p>
            <a:r>
              <a:rPr lang="es-ES" b="1"/>
              <a:t>Nuestra solución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92620F-376B-EE90-BB9F-6BC9D0D0D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05" y="2020255"/>
            <a:ext cx="4404920" cy="4282580"/>
          </a:xfrm>
        </p:spPr>
        <p:txBody>
          <a:bodyPr>
            <a:normAutofit/>
          </a:bodyPr>
          <a:lstStyle/>
          <a:p>
            <a:r>
              <a:rPr lang="es-ES" sz="2000"/>
              <a:t>Zona del parking exclusiva para C&amp;C</a:t>
            </a:r>
          </a:p>
          <a:p>
            <a:pPr marL="0" indent="0">
              <a:buNone/>
            </a:pPr>
            <a:endParaRPr lang="es-ES" sz="2000"/>
          </a:p>
          <a:p>
            <a:r>
              <a:rPr lang="es-ES" sz="2000"/>
              <a:t>Acceso mediante barrera con cámara</a:t>
            </a:r>
          </a:p>
          <a:p>
            <a:pPr marL="0" indent="0">
              <a:buNone/>
            </a:pPr>
            <a:endParaRPr lang="es-ES" sz="2000"/>
          </a:p>
          <a:p>
            <a:r>
              <a:rPr lang="es-ES" sz="2000"/>
              <a:t>Lectura de matriculas para acceder</a:t>
            </a:r>
          </a:p>
          <a:p>
            <a:pPr marL="0" indent="0">
              <a:buNone/>
            </a:pPr>
            <a:endParaRPr lang="es-ES" sz="2000"/>
          </a:p>
          <a:p>
            <a:r>
              <a:rPr lang="es-ES" sz="2000"/>
              <a:t>Información sobre el estado del pedido disponible en las pantallas</a:t>
            </a:r>
          </a:p>
        </p:txBody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20DC9F56-0203-CF1F-63F5-51E0B47029BA}"/>
              </a:ext>
            </a:extLst>
          </p:cNvPr>
          <p:cNvSpPr/>
          <p:nvPr/>
        </p:nvSpPr>
        <p:spPr>
          <a:xfrm>
            <a:off x="6349558" y="1885635"/>
            <a:ext cx="1783080" cy="32461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_tradn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C441587-0492-1B4E-873A-D95D95688AC1}"/>
              </a:ext>
            </a:extLst>
          </p:cNvPr>
          <p:cNvSpPr txBox="1"/>
          <p:nvPr/>
        </p:nvSpPr>
        <p:spPr>
          <a:xfrm>
            <a:off x="4146798" y="3026187"/>
            <a:ext cx="61008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base">
              <a:buNone/>
            </a:pPr>
            <a:r>
              <a:rPr lang="en-US" sz="1800" b="1" i="0" u="none" strike="noStrike">
                <a:solidFill>
                  <a:srgbClr val="7A8AA0"/>
                </a:solidFill>
                <a:effectLst/>
                <a:latin typeface="Calibri" panose="020F0502020204030204" pitchFamily="34" charset="0"/>
              </a:rPr>
              <a:t>Parking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ctr" rtl="0" fontAlgn="base">
              <a:buNone/>
            </a:pPr>
            <a:r>
              <a:rPr lang="en-US" sz="1800" b="1" i="0" u="none" strike="noStrike">
                <a:solidFill>
                  <a:srgbClr val="7A8AA0"/>
                </a:solidFill>
                <a:effectLst/>
                <a:latin typeface="Calibri" panose="020F0502020204030204" pitchFamily="34" charset="0"/>
              </a:rPr>
              <a:t>general</a:t>
            </a:r>
            <a:r>
              <a:rPr lang="en-US" sz="1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13" name="Shape 26">
            <a:extLst>
              <a:ext uri="{FF2B5EF4-FFF2-40B4-BE49-F238E27FC236}">
                <a16:creationId xmlns:a16="http://schemas.microsoft.com/office/drawing/2014/main" id="{454038B0-EAD6-4FF0-7AB1-C2BB87CB5033}"/>
              </a:ext>
            </a:extLst>
          </p:cNvPr>
          <p:cNvSpPr/>
          <p:nvPr/>
        </p:nvSpPr>
        <p:spPr>
          <a:xfrm>
            <a:off x="8346347" y="1428435"/>
            <a:ext cx="457200" cy="457200"/>
          </a:xfrm>
          <a:prstGeom prst="ellipse">
            <a:avLst/>
          </a:prstGeom>
          <a:solidFill>
            <a:srgbClr val="EF4444"/>
          </a:solidFill>
          <a:ln/>
          <a:effectLst>
            <a:outerShdw blurRad="76200" dist="25400" dir="8100000" algn="bl" rotWithShape="0">
              <a:srgbClr val="0E1B2A">
                <a:alpha val="1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_tradnl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DCB22F5C-2301-DCF5-6F3C-AB265645F532}"/>
              </a:ext>
            </a:extLst>
          </p:cNvPr>
          <p:cNvSpPr/>
          <p:nvPr/>
        </p:nvSpPr>
        <p:spPr>
          <a:xfrm>
            <a:off x="9017256" y="1885635"/>
            <a:ext cx="2054464" cy="3246120"/>
          </a:xfrm>
          <a:prstGeom prst="rect">
            <a:avLst/>
          </a:prstGeom>
          <a:solidFill>
            <a:srgbClr val="0FB5AE">
              <a:alpha val="20000"/>
            </a:srgbClr>
          </a:solidFill>
          <a:ln w="15875">
            <a:solidFill>
              <a:srgbClr val="0FB5AE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_tradnl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EA2F0CEC-CE96-BF0C-B7A9-FAF478B700CB}"/>
              </a:ext>
            </a:extLst>
          </p:cNvPr>
          <p:cNvSpPr/>
          <p:nvPr/>
        </p:nvSpPr>
        <p:spPr>
          <a:xfrm>
            <a:off x="9097858" y="2049230"/>
            <a:ext cx="753387" cy="448403"/>
          </a:xfrm>
          <a:prstGeom prst="rect">
            <a:avLst/>
          </a:prstGeom>
          <a:solidFill>
            <a:srgbClr val="FFFFFF"/>
          </a:solidFill>
          <a:ln w="12700">
            <a:solidFill>
              <a:srgbClr val="0B847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_tradnl" sz="16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3669F30-7AE0-17D0-BFB5-851980F145CB}"/>
              </a:ext>
            </a:extLst>
          </p:cNvPr>
          <p:cNvSpPr/>
          <p:nvPr/>
        </p:nvSpPr>
        <p:spPr>
          <a:xfrm>
            <a:off x="10230513" y="2049230"/>
            <a:ext cx="753387" cy="448403"/>
          </a:xfrm>
          <a:prstGeom prst="rect">
            <a:avLst/>
          </a:prstGeom>
          <a:solidFill>
            <a:srgbClr val="FFFFFF"/>
          </a:solidFill>
          <a:ln w="12700">
            <a:solidFill>
              <a:srgbClr val="0B847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_tradnl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BA08F863-A541-73C7-FEA8-6CCDB4FC7581}"/>
              </a:ext>
            </a:extLst>
          </p:cNvPr>
          <p:cNvSpPr/>
          <p:nvPr/>
        </p:nvSpPr>
        <p:spPr>
          <a:xfrm>
            <a:off x="9097859" y="2713358"/>
            <a:ext cx="753387" cy="448403"/>
          </a:xfrm>
          <a:prstGeom prst="rect">
            <a:avLst/>
          </a:prstGeom>
          <a:solidFill>
            <a:srgbClr val="FFFFFF"/>
          </a:solidFill>
          <a:ln w="12700">
            <a:solidFill>
              <a:srgbClr val="0B847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_tradnl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33E810FF-7EF9-4680-DCC7-0A91F7EB7AFE}"/>
              </a:ext>
            </a:extLst>
          </p:cNvPr>
          <p:cNvSpPr/>
          <p:nvPr/>
        </p:nvSpPr>
        <p:spPr>
          <a:xfrm>
            <a:off x="10225501" y="2699976"/>
            <a:ext cx="753387" cy="448403"/>
          </a:xfrm>
          <a:prstGeom prst="rect">
            <a:avLst/>
          </a:prstGeom>
          <a:solidFill>
            <a:srgbClr val="FFFFFF"/>
          </a:solidFill>
          <a:ln w="12700">
            <a:solidFill>
              <a:srgbClr val="0B847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_tradnl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43549F51-7615-15E9-CD4D-F179A519E868}"/>
              </a:ext>
            </a:extLst>
          </p:cNvPr>
          <p:cNvSpPr/>
          <p:nvPr/>
        </p:nvSpPr>
        <p:spPr>
          <a:xfrm>
            <a:off x="9097859" y="4567012"/>
            <a:ext cx="753387" cy="448403"/>
          </a:xfrm>
          <a:prstGeom prst="rect">
            <a:avLst/>
          </a:prstGeom>
          <a:solidFill>
            <a:srgbClr val="FFFFFF"/>
          </a:solidFill>
          <a:ln w="12700">
            <a:solidFill>
              <a:srgbClr val="0B847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_tradnl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2487761C-8981-5374-40AD-67A83C853D40}"/>
              </a:ext>
            </a:extLst>
          </p:cNvPr>
          <p:cNvSpPr/>
          <p:nvPr/>
        </p:nvSpPr>
        <p:spPr>
          <a:xfrm>
            <a:off x="10230512" y="4567013"/>
            <a:ext cx="753387" cy="448403"/>
          </a:xfrm>
          <a:prstGeom prst="rect">
            <a:avLst/>
          </a:prstGeom>
          <a:solidFill>
            <a:srgbClr val="FFFFFF"/>
          </a:solidFill>
          <a:ln w="12700">
            <a:solidFill>
              <a:srgbClr val="0B847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_tradnl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B884D6B1-11EE-2886-A181-9C510A06F22F}"/>
              </a:ext>
            </a:extLst>
          </p:cNvPr>
          <p:cNvSpPr/>
          <p:nvPr/>
        </p:nvSpPr>
        <p:spPr>
          <a:xfrm>
            <a:off x="9084778" y="3964593"/>
            <a:ext cx="753387" cy="448403"/>
          </a:xfrm>
          <a:prstGeom prst="rect">
            <a:avLst/>
          </a:prstGeom>
          <a:solidFill>
            <a:srgbClr val="FFFFFF"/>
          </a:solidFill>
          <a:ln w="12700">
            <a:solidFill>
              <a:srgbClr val="0B847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_tradnl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1550D068-9C65-AE40-8713-0371FFA39691}"/>
              </a:ext>
            </a:extLst>
          </p:cNvPr>
          <p:cNvSpPr/>
          <p:nvPr/>
        </p:nvSpPr>
        <p:spPr>
          <a:xfrm>
            <a:off x="10225502" y="3951612"/>
            <a:ext cx="753387" cy="448403"/>
          </a:xfrm>
          <a:prstGeom prst="rect">
            <a:avLst/>
          </a:prstGeom>
          <a:solidFill>
            <a:srgbClr val="FFFFFF"/>
          </a:solidFill>
          <a:ln w="12700">
            <a:solidFill>
              <a:srgbClr val="0B847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_tradnl"/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7A56E360-36A2-087B-BEFF-0429579B8302}"/>
              </a:ext>
            </a:extLst>
          </p:cNvPr>
          <p:cNvSpPr/>
          <p:nvPr/>
        </p:nvSpPr>
        <p:spPr>
          <a:xfrm>
            <a:off x="10225501" y="3307674"/>
            <a:ext cx="753387" cy="448403"/>
          </a:xfrm>
          <a:prstGeom prst="rect">
            <a:avLst/>
          </a:prstGeom>
          <a:solidFill>
            <a:srgbClr val="FFFFFF"/>
          </a:solidFill>
          <a:ln w="12700">
            <a:solidFill>
              <a:srgbClr val="0B847F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_tradnl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DF8CFD9-FF54-8AF2-27E9-C67A40A021CC}"/>
              </a:ext>
            </a:extLst>
          </p:cNvPr>
          <p:cNvSpPr txBox="1"/>
          <p:nvPr/>
        </p:nvSpPr>
        <p:spPr>
          <a:xfrm>
            <a:off x="9142950" y="2097914"/>
            <a:ext cx="11485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/>
              <a:t>C&amp;C 1</a:t>
            </a:r>
            <a:endParaRPr lang="es-ES_tradnl" sz="160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84649B9-D685-046E-C12B-FD3BAE01C3B3}"/>
              </a:ext>
            </a:extLst>
          </p:cNvPr>
          <p:cNvSpPr txBox="1"/>
          <p:nvPr/>
        </p:nvSpPr>
        <p:spPr>
          <a:xfrm>
            <a:off x="10289657" y="2088774"/>
            <a:ext cx="10396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/>
              <a:t>C&amp;C 2</a:t>
            </a:r>
            <a:endParaRPr lang="es-ES_tradnl" sz="160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4FC1D20-FC1B-E860-DDDC-2268A36523E0}"/>
              </a:ext>
            </a:extLst>
          </p:cNvPr>
          <p:cNvSpPr txBox="1"/>
          <p:nvPr/>
        </p:nvSpPr>
        <p:spPr>
          <a:xfrm>
            <a:off x="9127555" y="2768282"/>
            <a:ext cx="8042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/>
              <a:t>C&amp;C 3</a:t>
            </a:r>
            <a:endParaRPr lang="es-ES_tradnl" sz="160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7237FC7-17B5-2D9C-3341-C9D35884182A}"/>
              </a:ext>
            </a:extLst>
          </p:cNvPr>
          <p:cNvSpPr txBox="1"/>
          <p:nvPr/>
        </p:nvSpPr>
        <p:spPr>
          <a:xfrm>
            <a:off x="10247690" y="2768282"/>
            <a:ext cx="8462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/>
              <a:t>C&amp;C 4</a:t>
            </a:r>
            <a:endParaRPr lang="es-ES_tradnl" sz="160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9F9D824-BAFA-E4BE-C96F-509725DB840A}"/>
              </a:ext>
            </a:extLst>
          </p:cNvPr>
          <p:cNvSpPr txBox="1"/>
          <p:nvPr/>
        </p:nvSpPr>
        <p:spPr>
          <a:xfrm>
            <a:off x="10270291" y="3347519"/>
            <a:ext cx="875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/>
              <a:t>C&amp;C 5</a:t>
            </a:r>
            <a:endParaRPr lang="es-ES_tradnl" sz="160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9CDDD9F8-9309-BD42-788A-23D6CAC06209}"/>
              </a:ext>
            </a:extLst>
          </p:cNvPr>
          <p:cNvSpPr txBox="1"/>
          <p:nvPr/>
        </p:nvSpPr>
        <p:spPr>
          <a:xfrm>
            <a:off x="9127555" y="3992268"/>
            <a:ext cx="10237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/>
              <a:t>C&amp;C 6</a:t>
            </a:r>
            <a:endParaRPr lang="es-ES_tradnl" sz="1600"/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6E1BF54F-9EBD-C4B6-D153-171A7A256DE5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8574947" y="1885635"/>
            <a:ext cx="20625" cy="3349095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F273417A-57B6-73E6-46D4-5B371738B1CD}"/>
              </a:ext>
            </a:extLst>
          </p:cNvPr>
          <p:cNvSpPr txBox="1"/>
          <p:nvPr/>
        </p:nvSpPr>
        <p:spPr>
          <a:xfrm>
            <a:off x="10246789" y="3992268"/>
            <a:ext cx="8546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/>
              <a:t>C&amp;C 7</a:t>
            </a:r>
            <a:endParaRPr lang="es-ES_tradnl" sz="160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F4E563E5-4D6F-2C5A-6AC8-475739AF6E89}"/>
              </a:ext>
            </a:extLst>
          </p:cNvPr>
          <p:cNvSpPr txBox="1"/>
          <p:nvPr/>
        </p:nvSpPr>
        <p:spPr>
          <a:xfrm>
            <a:off x="9105410" y="4635309"/>
            <a:ext cx="1045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/>
              <a:t>C&amp;C 8</a:t>
            </a:r>
            <a:endParaRPr lang="es-ES_tradnl" sz="160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29912D60-120C-A0AB-ADFB-07EB9EBE317C}"/>
              </a:ext>
            </a:extLst>
          </p:cNvPr>
          <p:cNvSpPr txBox="1"/>
          <p:nvPr/>
        </p:nvSpPr>
        <p:spPr>
          <a:xfrm>
            <a:off x="10289657" y="4620826"/>
            <a:ext cx="8294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/>
              <a:t>C&amp;C 9</a:t>
            </a:r>
            <a:endParaRPr lang="es-ES_tradnl" sz="1600"/>
          </a:p>
        </p:txBody>
      </p:sp>
      <p:pic>
        <p:nvPicPr>
          <p:cNvPr id="2059" name="Picture 11">
            <a:extLst>
              <a:ext uri="{FF2B5EF4-FFF2-40B4-BE49-F238E27FC236}">
                <a16:creationId xmlns:a16="http://schemas.microsoft.com/office/drawing/2014/main" id="{1E4EACD5-DC8C-F1B4-21BE-932EB7EFF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1040" y="1495547"/>
            <a:ext cx="327814" cy="327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00A628F2-DDBD-2F6E-B944-ECEE228CD753}"/>
              </a:ext>
            </a:extLst>
          </p:cNvPr>
          <p:cNvCxnSpPr>
            <a:cxnSpLocks/>
          </p:cNvCxnSpPr>
          <p:nvPr/>
        </p:nvCxnSpPr>
        <p:spPr>
          <a:xfrm>
            <a:off x="8021596" y="3575807"/>
            <a:ext cx="119543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Shape 27">
            <a:extLst>
              <a:ext uri="{FF2B5EF4-FFF2-40B4-BE49-F238E27FC236}">
                <a16:creationId xmlns:a16="http://schemas.microsoft.com/office/drawing/2014/main" id="{7214C2B0-0FB0-0FA7-F12A-ECDBAB604C34}"/>
              </a:ext>
            </a:extLst>
          </p:cNvPr>
          <p:cNvSpPr/>
          <p:nvPr/>
        </p:nvSpPr>
        <p:spPr>
          <a:xfrm>
            <a:off x="7753811" y="3373412"/>
            <a:ext cx="389932" cy="40479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76200" dist="25400" dir="8100000" algn="bl" rotWithShape="0">
              <a:srgbClr val="0E1B2A">
                <a:alpha val="1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_tradnl"/>
          </a:p>
        </p:txBody>
      </p:sp>
      <p:pic>
        <p:nvPicPr>
          <p:cNvPr id="2061" name="Picture 13">
            <a:extLst>
              <a:ext uri="{FF2B5EF4-FFF2-40B4-BE49-F238E27FC236}">
                <a16:creationId xmlns:a16="http://schemas.microsoft.com/office/drawing/2014/main" id="{7DCAE3A4-2F9B-2B2D-F901-F3F5360DF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9871" y="3429000"/>
            <a:ext cx="292142" cy="29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3FF5D964-B19F-0DEF-BF92-B2E2DFF50C2D}"/>
              </a:ext>
            </a:extLst>
          </p:cNvPr>
          <p:cNvSpPr/>
          <p:nvPr/>
        </p:nvSpPr>
        <p:spPr>
          <a:xfrm>
            <a:off x="8748575" y="3216685"/>
            <a:ext cx="371912" cy="24328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FE2209EB-CB80-F85D-73B0-B74B30E1AEDF}"/>
              </a:ext>
            </a:extLst>
          </p:cNvPr>
          <p:cNvSpPr txBox="1"/>
          <p:nvPr/>
        </p:nvSpPr>
        <p:spPr>
          <a:xfrm>
            <a:off x="8696495" y="3204169"/>
            <a:ext cx="8892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/>
              <a:t>C&amp;C1</a:t>
            </a:r>
          </a:p>
        </p:txBody>
      </p:sp>
    </p:spTree>
    <p:extLst>
      <p:ext uri="{BB962C8B-B14F-4D97-AF65-F5344CB8AC3E}">
        <p14:creationId xmlns:p14="http://schemas.microsoft.com/office/powerpoint/2010/main" val="132269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D4CC9-A817-57E0-F8F2-B9D8701C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508" y="142817"/>
            <a:ext cx="5797492" cy="1136504"/>
          </a:xfrm>
        </p:spPr>
        <p:txBody>
          <a:bodyPr/>
          <a:lstStyle/>
          <a:p>
            <a:r>
              <a:rPr lang="es-ES" b="1" noProof="0"/>
              <a:t>Funcionamiento básico</a:t>
            </a: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D0A6A9CF-B92A-AB63-44B3-8D8D80318788}"/>
              </a:ext>
            </a:extLst>
          </p:cNvPr>
          <p:cNvSpPr/>
          <p:nvPr/>
        </p:nvSpPr>
        <p:spPr>
          <a:xfrm>
            <a:off x="1035692" y="2718089"/>
            <a:ext cx="914400" cy="914400"/>
          </a:xfrm>
          <a:prstGeom prst="ellipse">
            <a:avLst/>
          </a:prstGeom>
          <a:solidFill>
            <a:srgbClr val="1E3A57"/>
          </a:solidFill>
          <a:ln/>
          <a:effectLst>
            <a:outerShdw blurRad="76200" dist="25400" dir="8100000" algn="bl" rotWithShape="0">
              <a:srgbClr val="0E1B2A">
                <a:alpha val="1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noProof="0"/>
          </a:p>
        </p:txBody>
      </p:sp>
      <p:pic>
        <p:nvPicPr>
          <p:cNvPr id="3084" name="Picture 12">
            <a:extLst>
              <a:ext uri="{FF2B5EF4-FFF2-40B4-BE49-F238E27FC236}">
                <a16:creationId xmlns:a16="http://schemas.microsoft.com/office/drawing/2014/main" id="{1DB9789B-22E8-7977-5BF0-8D73D7FDE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7275" y="2910981"/>
            <a:ext cx="583733" cy="524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01F68FD-5B15-DE61-0BC0-8C99906BDE9A}"/>
              </a:ext>
            </a:extLst>
          </p:cNvPr>
          <p:cNvSpPr txBox="1"/>
          <p:nvPr/>
        </p:nvSpPr>
        <p:spPr>
          <a:xfrm>
            <a:off x="715861" y="3723214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i="0" u="none" strike="noStrike" noProof="0">
                <a:solidFill>
                  <a:srgbClr val="1A2433"/>
                </a:solidFill>
                <a:effectLst/>
                <a:latin typeface="Trebuchet MS" panose="020B0603020202020204" pitchFamily="34" charset="0"/>
              </a:rPr>
              <a:t>Llega el coche</a:t>
            </a:r>
            <a:endParaRPr lang="es-ES" sz="1600" noProof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9A39C1F-924B-FC8C-ACAB-3A8DFE3000EE}"/>
              </a:ext>
            </a:extLst>
          </p:cNvPr>
          <p:cNvSpPr txBox="1"/>
          <p:nvPr/>
        </p:nvSpPr>
        <p:spPr>
          <a:xfrm>
            <a:off x="447761" y="4026289"/>
            <a:ext cx="35202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0" i="0" u="none" strike="noStrike" noProof="0">
                <a:solidFill>
                  <a:srgbClr val="64748B"/>
                </a:solidFill>
                <a:effectLst/>
                <a:latin typeface="Calibri" panose="020F0502020204030204" pitchFamily="34" charset="0"/>
              </a:rPr>
              <a:t>Se detiene frente a la barrera</a:t>
            </a:r>
            <a:endParaRPr lang="es-ES" sz="1400" noProof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55747737-D833-96A5-EB4C-BD51676C9036}"/>
              </a:ext>
            </a:extLst>
          </p:cNvPr>
          <p:cNvSpPr/>
          <p:nvPr/>
        </p:nvSpPr>
        <p:spPr>
          <a:xfrm>
            <a:off x="3284116" y="2718089"/>
            <a:ext cx="914400" cy="914400"/>
          </a:xfrm>
          <a:prstGeom prst="ellipse">
            <a:avLst/>
          </a:prstGeom>
          <a:solidFill>
            <a:srgbClr val="0FB5AE"/>
          </a:solidFill>
          <a:ln/>
          <a:effectLst>
            <a:outerShdw blurRad="76200" dist="25400" dir="8100000" algn="bl" rotWithShape="0">
              <a:srgbClr val="0E1B2A">
                <a:alpha val="1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noProof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242E9BB3-957B-156E-DCC0-987B7502C96F}"/>
              </a:ext>
            </a:extLst>
          </p:cNvPr>
          <p:cNvCxnSpPr>
            <a:cxnSpLocks/>
            <a:stCxn id="4" idx="6"/>
            <a:endCxn id="12" idx="2"/>
          </p:cNvCxnSpPr>
          <p:nvPr/>
        </p:nvCxnSpPr>
        <p:spPr>
          <a:xfrm>
            <a:off x="1950092" y="3175289"/>
            <a:ext cx="133402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Picture 14">
            <a:extLst>
              <a:ext uri="{FF2B5EF4-FFF2-40B4-BE49-F238E27FC236}">
                <a16:creationId xmlns:a16="http://schemas.microsoft.com/office/drawing/2014/main" id="{7F61EDFA-83B9-8C0A-5A2E-431C5BA14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2141" y="2939239"/>
            <a:ext cx="467795" cy="467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DCE1967F-3CE7-D0A6-32BF-6D312880CD85}"/>
              </a:ext>
            </a:extLst>
          </p:cNvPr>
          <p:cNvSpPr txBox="1"/>
          <p:nvPr/>
        </p:nvSpPr>
        <p:spPr>
          <a:xfrm>
            <a:off x="2903465" y="3723214"/>
            <a:ext cx="22877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i="0" u="none" strike="noStrike" noProof="0">
                <a:solidFill>
                  <a:srgbClr val="1A2433"/>
                </a:solidFill>
                <a:effectLst/>
                <a:latin typeface="Trebuchet MS" panose="020B0603020202020204" pitchFamily="34" charset="0"/>
              </a:rPr>
              <a:t>Lee la matrícula</a:t>
            </a:r>
            <a:endParaRPr lang="es-ES" sz="1600" noProof="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E2B5397D-0164-7A13-6331-189080BEA710}"/>
              </a:ext>
            </a:extLst>
          </p:cNvPr>
          <p:cNvSpPr/>
          <p:nvPr/>
        </p:nvSpPr>
        <p:spPr>
          <a:xfrm>
            <a:off x="5528870" y="2715937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blurRad="76200" dist="25400" dir="8100000" algn="bl" rotWithShape="0">
              <a:srgbClr val="0E1B2A">
                <a:alpha val="1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noProof="0"/>
          </a:p>
        </p:txBody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6B336F8A-B05B-CA99-0BF1-10D27B18177E}"/>
              </a:ext>
            </a:extLst>
          </p:cNvPr>
          <p:cNvSpPr/>
          <p:nvPr/>
        </p:nvSpPr>
        <p:spPr>
          <a:xfrm>
            <a:off x="7773625" y="2715936"/>
            <a:ext cx="914400" cy="914400"/>
          </a:xfrm>
          <a:prstGeom prst="ellipse">
            <a:avLst/>
          </a:prstGeom>
          <a:solidFill>
            <a:srgbClr val="22C55E"/>
          </a:solidFill>
          <a:ln/>
          <a:effectLst>
            <a:outerShdw blurRad="76200" dist="25400" dir="8100000" algn="bl" rotWithShape="0">
              <a:srgbClr val="0E1B2A">
                <a:alpha val="1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noProof="0"/>
          </a:p>
        </p:txBody>
      </p:sp>
      <p:sp>
        <p:nvSpPr>
          <p:cNvPr id="22" name="Shape 27">
            <a:extLst>
              <a:ext uri="{FF2B5EF4-FFF2-40B4-BE49-F238E27FC236}">
                <a16:creationId xmlns:a16="http://schemas.microsoft.com/office/drawing/2014/main" id="{927DD097-85B6-29A4-2944-0A1053AD5543}"/>
              </a:ext>
            </a:extLst>
          </p:cNvPr>
          <p:cNvSpPr/>
          <p:nvPr/>
        </p:nvSpPr>
        <p:spPr>
          <a:xfrm>
            <a:off x="10022048" y="2715937"/>
            <a:ext cx="914400" cy="914400"/>
          </a:xfrm>
          <a:prstGeom prst="ellipse">
            <a:avLst/>
          </a:prstGeom>
          <a:solidFill>
            <a:srgbClr val="0B847F"/>
          </a:solidFill>
          <a:ln/>
          <a:effectLst>
            <a:outerShdw blurRad="76200" dist="25400" dir="8100000" algn="bl" rotWithShape="0">
              <a:srgbClr val="0E1B2A">
                <a:alpha val="1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noProof="0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A85E51A4-A345-845F-5A15-06FBF6B9E844}"/>
              </a:ext>
            </a:extLst>
          </p:cNvPr>
          <p:cNvCxnSpPr>
            <a:cxnSpLocks/>
            <a:stCxn id="12" idx="6"/>
            <a:endCxn id="19" idx="2"/>
          </p:cNvCxnSpPr>
          <p:nvPr/>
        </p:nvCxnSpPr>
        <p:spPr>
          <a:xfrm flipV="1">
            <a:off x="4198516" y="3173137"/>
            <a:ext cx="1330354" cy="21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FDE6CBD9-03F4-532D-5A86-61ABF3BA0F89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 flipV="1">
            <a:off x="6443270" y="3173136"/>
            <a:ext cx="1330355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B023E795-E90C-9672-998B-9364456F0CF7}"/>
              </a:ext>
            </a:extLst>
          </p:cNvPr>
          <p:cNvCxnSpPr>
            <a:cxnSpLocks/>
            <a:stCxn id="20" idx="6"/>
            <a:endCxn id="22" idx="2"/>
          </p:cNvCxnSpPr>
          <p:nvPr/>
        </p:nvCxnSpPr>
        <p:spPr>
          <a:xfrm>
            <a:off x="8688025" y="3173136"/>
            <a:ext cx="133402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8" name="Picture 16">
            <a:extLst>
              <a:ext uri="{FF2B5EF4-FFF2-40B4-BE49-F238E27FC236}">
                <a16:creationId xmlns:a16="http://schemas.microsoft.com/office/drawing/2014/main" id="{FC6EB3EF-C05B-23D3-184B-F03A3642E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7450" y="2910981"/>
            <a:ext cx="531338" cy="53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>
            <a:extLst>
              <a:ext uri="{FF2B5EF4-FFF2-40B4-BE49-F238E27FC236}">
                <a16:creationId xmlns:a16="http://schemas.microsoft.com/office/drawing/2014/main" id="{AC96C998-6F18-7E8D-8E4F-10C47B3C1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8107" y="2896693"/>
            <a:ext cx="520117" cy="520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>
            <a:extLst>
              <a:ext uri="{FF2B5EF4-FFF2-40B4-BE49-F238E27FC236}">
                <a16:creationId xmlns:a16="http://schemas.microsoft.com/office/drawing/2014/main" id="{F75D25C1-1654-600D-7432-E63670827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2062" y="2893886"/>
            <a:ext cx="554371" cy="554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CuadroTexto 38">
            <a:extLst>
              <a:ext uri="{FF2B5EF4-FFF2-40B4-BE49-F238E27FC236}">
                <a16:creationId xmlns:a16="http://schemas.microsoft.com/office/drawing/2014/main" id="{B9AEFA45-C2C9-9AF7-E781-66CB2B63A02F}"/>
              </a:ext>
            </a:extLst>
          </p:cNvPr>
          <p:cNvSpPr txBox="1"/>
          <p:nvPr/>
        </p:nvSpPr>
        <p:spPr>
          <a:xfrm>
            <a:off x="2812761" y="3990243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0" i="0" u="none" strike="noStrike" noProof="0">
                <a:solidFill>
                  <a:srgbClr val="64748B"/>
                </a:solidFill>
                <a:effectLst/>
                <a:latin typeface="Calibri" panose="020F0502020204030204" pitchFamily="34" charset="0"/>
              </a:rPr>
              <a:t>Cámara + OCR la reconocen</a:t>
            </a:r>
            <a:r>
              <a:rPr lang="es-ES" sz="1800" b="0" i="0" noProof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s-ES" noProof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E8099498-C499-8E89-D9F6-7EA74A495214}"/>
              </a:ext>
            </a:extLst>
          </p:cNvPr>
          <p:cNvSpPr txBox="1"/>
          <p:nvPr/>
        </p:nvSpPr>
        <p:spPr>
          <a:xfrm>
            <a:off x="5281916" y="3692436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i="0" u="none" strike="noStrike" noProof="0">
                <a:solidFill>
                  <a:srgbClr val="1A2433"/>
                </a:solidFill>
                <a:effectLst/>
                <a:latin typeface="Trebuchet MS" panose="020B0603020202020204" pitchFamily="34" charset="0"/>
              </a:rPr>
              <a:t>¿Pedido hoy?</a:t>
            </a:r>
            <a:endParaRPr lang="es-ES" noProof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B90DB985-CD71-DACB-6E34-436DAE6A4D18}"/>
              </a:ext>
            </a:extLst>
          </p:cNvPr>
          <p:cNvSpPr txBox="1"/>
          <p:nvPr/>
        </p:nvSpPr>
        <p:spPr>
          <a:xfrm>
            <a:off x="5177761" y="4024371"/>
            <a:ext cx="60966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0" i="0" u="none" strike="noStrike" noProof="0">
                <a:solidFill>
                  <a:srgbClr val="64748B"/>
                </a:solidFill>
                <a:effectLst/>
                <a:latin typeface="Calibri" panose="020F0502020204030204" pitchFamily="34" charset="0"/>
              </a:rPr>
              <a:t>Se consulta en el sistema</a:t>
            </a:r>
            <a:endParaRPr lang="es-ES" sz="1400" noProof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2DDF4E3-9A93-36DD-8696-DEDF849CC9E9}"/>
              </a:ext>
            </a:extLst>
          </p:cNvPr>
          <p:cNvSpPr txBox="1"/>
          <p:nvPr/>
        </p:nvSpPr>
        <p:spPr>
          <a:xfrm>
            <a:off x="7550230" y="3664464"/>
            <a:ext cx="1875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i="0" u="none" strike="noStrike" noProof="0">
                <a:solidFill>
                  <a:srgbClr val="1A2433"/>
                </a:solidFill>
                <a:effectLst/>
                <a:latin typeface="Trebuchet MS" panose="020B0603020202020204" pitchFamily="34" charset="0"/>
              </a:rPr>
              <a:t>Asigna plaza</a:t>
            </a:r>
            <a:endParaRPr lang="es-ES" noProof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651F83EA-F929-7D72-F6A0-AFA048989A00}"/>
              </a:ext>
            </a:extLst>
          </p:cNvPr>
          <p:cNvSpPr txBox="1"/>
          <p:nvPr/>
        </p:nvSpPr>
        <p:spPr>
          <a:xfrm>
            <a:off x="7408002" y="3963228"/>
            <a:ext cx="61424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0" i="0" u="none" strike="noStrike" noProof="0">
                <a:solidFill>
                  <a:srgbClr val="64748B"/>
                </a:solidFill>
                <a:effectLst/>
                <a:latin typeface="Calibri" panose="020F0502020204030204" pitchFamily="34" charset="0"/>
              </a:rPr>
              <a:t>        Si hay pedido,</a:t>
            </a:r>
          </a:p>
          <a:p>
            <a:r>
              <a:rPr lang="es-ES" sz="1400" b="0" i="0" u="none" strike="noStrike" noProof="0">
                <a:solidFill>
                  <a:srgbClr val="64748B"/>
                </a:solidFill>
                <a:effectLst/>
                <a:latin typeface="Calibri" panose="020F0502020204030204" pitchFamily="34" charset="0"/>
              </a:rPr>
              <a:t> abre la barrera y asigna</a:t>
            </a:r>
            <a:endParaRPr lang="es-ES" sz="1400" noProof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1CAD525D-9CED-42F5-73FA-527BF86721F8}"/>
              </a:ext>
            </a:extLst>
          </p:cNvPr>
          <p:cNvSpPr txBox="1"/>
          <p:nvPr/>
        </p:nvSpPr>
        <p:spPr>
          <a:xfrm>
            <a:off x="9753514" y="3963228"/>
            <a:ext cx="3981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0" i="0" u="none" strike="noStrike" noProof="0">
                <a:solidFill>
                  <a:srgbClr val="64748B"/>
                </a:solidFill>
                <a:effectLst/>
                <a:latin typeface="Calibri" panose="020F0502020204030204" pitchFamily="34" charset="0"/>
              </a:rPr>
              <a:t>Muestra la </a:t>
            </a:r>
            <a:r>
              <a:rPr lang="es-ES" sz="1400" noProof="0">
                <a:solidFill>
                  <a:srgbClr val="64748B"/>
                </a:solidFill>
                <a:latin typeface="Calibri" panose="020F0502020204030204" pitchFamily="34" charset="0"/>
              </a:rPr>
              <a:t>c</a:t>
            </a:r>
            <a:r>
              <a:rPr lang="es-ES" sz="1400" b="0" i="0" u="none" strike="noStrike" noProof="0">
                <a:solidFill>
                  <a:srgbClr val="64748B"/>
                </a:solidFill>
                <a:effectLst/>
                <a:latin typeface="Calibri" panose="020F0502020204030204" pitchFamily="34" charset="0"/>
              </a:rPr>
              <a:t>uenta atrás </a:t>
            </a:r>
          </a:p>
          <a:p>
            <a:r>
              <a:rPr lang="es-ES" sz="1400" b="0" i="0" u="none" strike="noStrike" noProof="0">
                <a:solidFill>
                  <a:srgbClr val="64748B"/>
                </a:solidFill>
                <a:effectLst/>
                <a:latin typeface="Calibri" panose="020F0502020204030204" pitchFamily="34" charset="0"/>
              </a:rPr>
              <a:t>y libera la plaza</a:t>
            </a:r>
            <a:endParaRPr lang="es-ES" sz="1400" noProof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3CD2A3AC-3824-8BCA-867F-358F65CEA243}"/>
              </a:ext>
            </a:extLst>
          </p:cNvPr>
          <p:cNvSpPr txBox="1"/>
          <p:nvPr/>
        </p:nvSpPr>
        <p:spPr>
          <a:xfrm>
            <a:off x="10022048" y="3642960"/>
            <a:ext cx="1227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i="0" u="none" strike="noStrike" noProof="0">
                <a:solidFill>
                  <a:srgbClr val="1A2433"/>
                </a:solidFill>
                <a:effectLst/>
                <a:latin typeface="Trebuchet MS" panose="020B0603020202020204" pitchFamily="34" charset="0"/>
              </a:rPr>
              <a:t>Entrega</a:t>
            </a:r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54002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04DB23-442F-8B29-3A68-35C94932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2765" y="514218"/>
            <a:ext cx="3806423" cy="561810"/>
          </a:xfrm>
        </p:spPr>
        <p:txBody>
          <a:bodyPr>
            <a:normAutofit/>
          </a:bodyPr>
          <a:lstStyle/>
          <a:p>
            <a:r>
              <a:rPr lang="es-ES" sz="2400" b="1" noProof="0"/>
              <a:t>Como lo hemos desarrollado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1CA9CB-4E3F-C8F8-9305-060046829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9105" y="1133107"/>
            <a:ext cx="3554994" cy="5618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sz="3600" noProof="0"/>
              <a:t>Tres Agentes JADE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92F813-63C9-C622-C5B5-70751C89CD04}"/>
              </a:ext>
            </a:extLst>
          </p:cNvPr>
          <p:cNvSpPr txBox="1"/>
          <p:nvPr/>
        </p:nvSpPr>
        <p:spPr>
          <a:xfrm>
            <a:off x="1068714" y="2067886"/>
            <a:ext cx="1917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i="0" u="none" strike="noStrike" noProof="0">
                <a:effectLst/>
                <a:latin typeface="Trebuchet MS" panose="020B0603020202020204" pitchFamily="34" charset="0"/>
              </a:rPr>
              <a:t>Agente Lector</a:t>
            </a:r>
            <a:endParaRPr lang="es-ES" noProof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8905172-2C09-E06E-149D-B8C9FEA8E1BD}"/>
              </a:ext>
            </a:extLst>
          </p:cNvPr>
          <p:cNvSpPr txBox="1"/>
          <p:nvPr/>
        </p:nvSpPr>
        <p:spPr>
          <a:xfrm>
            <a:off x="1146146" y="4605448"/>
            <a:ext cx="16369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0" i="0" u="none" strike="noStrike" noProof="0">
                <a:effectLst/>
                <a:latin typeface="Calibri" panose="020F0502020204030204" pitchFamily="34" charset="0"/>
              </a:rPr>
              <a:t>Lee la matrícula</a:t>
            </a:r>
            <a:endParaRPr lang="es-ES" sz="1600" noProof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876EF40C-44A2-89CE-F3EE-B3FBBA4D9E7F}"/>
              </a:ext>
            </a:extLst>
          </p:cNvPr>
          <p:cNvSpPr/>
          <p:nvPr/>
        </p:nvSpPr>
        <p:spPr>
          <a:xfrm>
            <a:off x="1387889" y="2816867"/>
            <a:ext cx="960120" cy="960120"/>
          </a:xfrm>
          <a:prstGeom prst="ellipse">
            <a:avLst/>
          </a:prstGeom>
          <a:solidFill>
            <a:srgbClr val="0FB5AE"/>
          </a:solidFill>
          <a:ln/>
          <a:effectLst>
            <a:outerShdw blurRad="76200" dist="25400" dir="8100000" algn="bl" rotWithShape="0">
              <a:srgbClr val="0E1B2A">
                <a:alpha val="1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noProof="0"/>
          </a:p>
        </p:txBody>
      </p:sp>
      <p:sp>
        <p:nvSpPr>
          <p:cNvPr id="9" name="Shape 13">
            <a:extLst>
              <a:ext uri="{FF2B5EF4-FFF2-40B4-BE49-F238E27FC236}">
                <a16:creationId xmlns:a16="http://schemas.microsoft.com/office/drawing/2014/main" id="{A6A6F8A2-2910-6E25-CA3F-E40A4B644DAF}"/>
              </a:ext>
            </a:extLst>
          </p:cNvPr>
          <p:cNvSpPr/>
          <p:nvPr/>
        </p:nvSpPr>
        <p:spPr>
          <a:xfrm>
            <a:off x="5171463" y="2816867"/>
            <a:ext cx="960120" cy="960120"/>
          </a:xfrm>
          <a:prstGeom prst="ellipse">
            <a:avLst/>
          </a:prstGeom>
          <a:solidFill>
            <a:srgbClr val="F59E0B"/>
          </a:solidFill>
          <a:ln/>
          <a:effectLst>
            <a:outerShdw blurRad="76200" dist="25400" dir="8100000" algn="bl" rotWithShape="0">
              <a:srgbClr val="0E1B2A">
                <a:alpha val="1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noProof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A07B306-7749-4FB6-6AE2-0B7F6A7317C8}"/>
              </a:ext>
            </a:extLst>
          </p:cNvPr>
          <p:cNvSpPr txBox="1"/>
          <p:nvPr/>
        </p:nvSpPr>
        <p:spPr>
          <a:xfrm>
            <a:off x="1146146" y="4156636"/>
            <a:ext cx="15823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i="0" u="none" strike="noStrike" noProof="0">
                <a:solidFill>
                  <a:srgbClr val="0FB5AE"/>
                </a:solidFill>
                <a:effectLst/>
                <a:latin typeface="Trebuchet MS" panose="020B0603020202020204" pitchFamily="34" charset="0"/>
              </a:rPr>
              <a:t>PERCEPCIÓN</a:t>
            </a:r>
            <a:endParaRPr lang="es-ES" noProof="0"/>
          </a:p>
        </p:txBody>
      </p:sp>
      <p:sp>
        <p:nvSpPr>
          <p:cNvPr id="12" name="Shape 19">
            <a:extLst>
              <a:ext uri="{FF2B5EF4-FFF2-40B4-BE49-F238E27FC236}">
                <a16:creationId xmlns:a16="http://schemas.microsoft.com/office/drawing/2014/main" id="{A5BF183B-FB51-CFAB-9B9A-9CF754675A1F}"/>
              </a:ext>
            </a:extLst>
          </p:cNvPr>
          <p:cNvSpPr/>
          <p:nvPr/>
        </p:nvSpPr>
        <p:spPr>
          <a:xfrm>
            <a:off x="9096283" y="2816867"/>
            <a:ext cx="960120" cy="960120"/>
          </a:xfrm>
          <a:prstGeom prst="ellipse">
            <a:avLst/>
          </a:prstGeom>
          <a:solidFill>
            <a:srgbClr val="22C55E"/>
          </a:solidFill>
          <a:ln/>
          <a:effectLst>
            <a:outerShdw blurRad="76200" dist="25400" dir="8100000" algn="bl" rotWithShape="0">
              <a:srgbClr val="0E1B2A">
                <a:alpha val="18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noProof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244C65B-F6B9-7E06-442F-D986D96AA374}"/>
              </a:ext>
            </a:extLst>
          </p:cNvPr>
          <p:cNvSpPr txBox="1"/>
          <p:nvPr/>
        </p:nvSpPr>
        <p:spPr>
          <a:xfrm>
            <a:off x="4801649" y="2067886"/>
            <a:ext cx="2089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i="0" u="none" strike="noStrike" noProof="0">
                <a:effectLst/>
                <a:latin typeface="Trebuchet MS" panose="020B0603020202020204" pitchFamily="34" charset="0"/>
              </a:rPr>
              <a:t>Agente Lógica</a:t>
            </a:r>
            <a:endParaRPr lang="es-ES" noProof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44DCF4F-65C7-6FFA-ED4D-75D7BB44920F}"/>
              </a:ext>
            </a:extLst>
          </p:cNvPr>
          <p:cNvSpPr txBox="1"/>
          <p:nvPr/>
        </p:nvSpPr>
        <p:spPr>
          <a:xfrm>
            <a:off x="4801649" y="4156636"/>
            <a:ext cx="20899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>
                <a:solidFill>
                  <a:srgbClr val="F59E0B"/>
                </a:solidFill>
                <a:effectLst/>
                <a:latin typeface="Trebuchet MS" panose="020B0603020202020204" pitchFamily="34" charset="0"/>
              </a:rPr>
              <a:t>PROCESAMIENTO</a:t>
            </a:r>
            <a:endParaRPr lang="es-E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A8A28C9-C110-1EEF-F70A-49A8B14C0895}"/>
              </a:ext>
            </a:extLst>
          </p:cNvPr>
          <p:cNvSpPr txBox="1"/>
          <p:nvPr/>
        </p:nvSpPr>
        <p:spPr>
          <a:xfrm>
            <a:off x="3977085" y="4640127"/>
            <a:ext cx="3348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err="1">
                <a:effectLst/>
                <a:latin typeface="Calibri" panose="020F0502020204030204" pitchFamily="34" charset="0"/>
              </a:rPr>
              <a:t>Comprueba</a:t>
            </a:r>
            <a:r>
              <a:rPr lang="en-US" sz="1400" b="0" i="0" u="none" strike="noStrike">
                <a:effectLst/>
                <a:latin typeface="Calibri" panose="020F0502020204030204" pitchFamily="34" charset="0"/>
              </a:rPr>
              <a:t> </a:t>
            </a:r>
            <a:r>
              <a:rPr lang="en-US" sz="1400" b="0" i="0" u="none" strike="noStrike" err="1">
                <a:effectLst/>
                <a:latin typeface="Calibri" panose="020F0502020204030204" pitchFamily="34" charset="0"/>
              </a:rPr>
              <a:t>pedido</a:t>
            </a:r>
            <a:r>
              <a:rPr lang="en-US" sz="1400" b="0" i="0" u="none" strike="noStrike">
                <a:effectLst/>
                <a:latin typeface="Calibri" panose="020F0502020204030204" pitchFamily="34" charset="0"/>
              </a:rPr>
              <a:t> y </a:t>
            </a:r>
            <a:r>
              <a:rPr lang="en-US" sz="1400" b="0" i="0" u="none" strike="noStrike" err="1">
                <a:effectLst/>
                <a:latin typeface="Calibri" panose="020F0502020204030204" pitchFamily="34" charset="0"/>
              </a:rPr>
              <a:t>asigna</a:t>
            </a:r>
            <a:r>
              <a:rPr lang="en-US" sz="1400" b="0" i="0" u="none" strike="noStrike">
                <a:effectLst/>
                <a:latin typeface="Calibri" panose="020F0502020204030204" pitchFamily="34" charset="0"/>
              </a:rPr>
              <a:t> / libera plaza</a:t>
            </a:r>
            <a:endParaRPr lang="es-ES" sz="140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8E19811-8634-F226-0EED-664F2652EE2E}"/>
              </a:ext>
            </a:extLst>
          </p:cNvPr>
          <p:cNvSpPr txBox="1"/>
          <p:nvPr/>
        </p:nvSpPr>
        <p:spPr>
          <a:xfrm>
            <a:off x="8715773" y="2067886"/>
            <a:ext cx="19053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err="1">
                <a:effectLst/>
                <a:latin typeface="Trebuchet MS" panose="020B0603020202020204" pitchFamily="34" charset="0"/>
              </a:rPr>
              <a:t>Agente</a:t>
            </a:r>
            <a:r>
              <a:rPr lang="en-US" sz="1800" b="1" i="0" u="none" strike="noStrike">
                <a:effectLst/>
                <a:latin typeface="Trebuchet MS" panose="020B0603020202020204" pitchFamily="34" charset="0"/>
              </a:rPr>
              <a:t> </a:t>
            </a:r>
            <a:r>
              <a:rPr lang="en-US" sz="1800" b="1" i="0" u="none" strike="noStrike" err="1">
                <a:effectLst/>
                <a:latin typeface="Trebuchet MS" panose="020B0603020202020204" pitchFamily="34" charset="0"/>
              </a:rPr>
              <a:t>Interfaz</a:t>
            </a:r>
            <a:endParaRPr lang="es-E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D45381F-F15B-1156-FD93-4E6CF814E739}"/>
              </a:ext>
            </a:extLst>
          </p:cNvPr>
          <p:cNvSpPr txBox="1"/>
          <p:nvPr/>
        </p:nvSpPr>
        <p:spPr>
          <a:xfrm>
            <a:off x="8819976" y="4156636"/>
            <a:ext cx="2173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>
                <a:solidFill>
                  <a:srgbClr val="22C55E"/>
                </a:solidFill>
                <a:effectLst/>
                <a:latin typeface="Trebuchet MS" panose="020B0603020202020204" pitchFamily="34" charset="0"/>
              </a:rPr>
              <a:t>VISUALIZACIÓN</a:t>
            </a:r>
            <a:r>
              <a:rPr lang="en-US" sz="1800" b="0" i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​</a:t>
            </a:r>
            <a:endParaRPr lang="es-ES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DEF3DED-6149-4F30-CBD3-48D02A662DD3}"/>
              </a:ext>
            </a:extLst>
          </p:cNvPr>
          <p:cNvSpPr txBox="1"/>
          <p:nvPr/>
        </p:nvSpPr>
        <p:spPr>
          <a:xfrm>
            <a:off x="8291080" y="4645871"/>
            <a:ext cx="27610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err="1">
                <a:effectLst/>
                <a:latin typeface="Calibri" panose="020F0502020204030204" pitchFamily="34" charset="0"/>
              </a:rPr>
              <a:t>Muestra</a:t>
            </a:r>
            <a:r>
              <a:rPr lang="en-US" sz="1400" b="0" i="0" u="none" strike="noStrike">
                <a:effectLst/>
                <a:latin typeface="Calibri" panose="020F0502020204030204" pitchFamily="34" charset="0"/>
              </a:rPr>
              <a:t> </a:t>
            </a:r>
            <a:r>
              <a:rPr lang="en-US" sz="1400" b="0" i="0" u="none" strike="noStrike" err="1">
                <a:effectLst/>
                <a:latin typeface="Calibri" panose="020F0502020204030204" pitchFamily="34" charset="0"/>
              </a:rPr>
              <a:t>el</a:t>
            </a:r>
            <a:r>
              <a:rPr lang="en-US" sz="1400" b="0" i="0" u="none" strike="noStrike">
                <a:effectLst/>
                <a:latin typeface="Calibri" panose="020F0502020204030204" pitchFamily="34" charset="0"/>
              </a:rPr>
              <a:t> </a:t>
            </a:r>
            <a:r>
              <a:rPr lang="en-US" sz="1400" b="0" i="0" u="none" strike="noStrike" err="1">
                <a:effectLst/>
                <a:latin typeface="Calibri" panose="020F0502020204030204" pitchFamily="34" charset="0"/>
              </a:rPr>
              <a:t>estado</a:t>
            </a:r>
            <a:r>
              <a:rPr lang="en-US" sz="1400" b="0" i="0" u="none" strike="noStrike">
                <a:effectLst/>
                <a:latin typeface="Calibri" panose="020F0502020204030204" pitchFamily="34" charset="0"/>
              </a:rPr>
              <a:t> </a:t>
            </a:r>
            <a:r>
              <a:rPr lang="en-US" sz="1400" b="0" i="0" u="none" strike="noStrike" err="1">
                <a:effectLst/>
                <a:latin typeface="Calibri" panose="020F0502020204030204" pitchFamily="34" charset="0"/>
              </a:rPr>
              <a:t>en</a:t>
            </a:r>
            <a:r>
              <a:rPr lang="en-US" sz="1400" b="0" i="0" u="none" strike="noStrike">
                <a:effectLst/>
                <a:latin typeface="Calibri" panose="020F0502020204030204" pitchFamily="34" charset="0"/>
              </a:rPr>
              <a:t> las </a:t>
            </a:r>
            <a:r>
              <a:rPr lang="en-US" sz="1400" b="0" i="0" u="none" strike="noStrike" err="1">
                <a:effectLst/>
                <a:latin typeface="Calibri" panose="020F0502020204030204" pitchFamily="34" charset="0"/>
              </a:rPr>
              <a:t>pantallas</a:t>
            </a:r>
            <a:endParaRPr lang="es-ES" sz="140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4A73FE4-656F-8429-BA87-74B0ACF72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502" y="2986480"/>
            <a:ext cx="652647" cy="652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3C2D4E5D-BCB1-E402-E877-45F70EB82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538" y="3047618"/>
            <a:ext cx="527981" cy="527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1E2E7AFC-90E2-057E-FDA8-D64848B64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500" y="2994753"/>
            <a:ext cx="644374" cy="644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8FCEA046-E060-E93B-5852-7C46083DE9B1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2348009" y="3296927"/>
            <a:ext cx="282345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997208FB-138E-D575-E968-1E331A998A6F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>
            <a:off x="6131583" y="3296927"/>
            <a:ext cx="29647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1423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AA97C8-2055-075C-6475-26264E7CE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949" y="2311"/>
            <a:ext cx="6371164" cy="1402726"/>
          </a:xfrm>
        </p:spPr>
        <p:txBody>
          <a:bodyPr/>
          <a:lstStyle/>
          <a:p>
            <a:r>
              <a:rPr lang="es-ES" b="1"/>
              <a:t>Agente Lector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D36F820-E75A-8514-A598-CF208BF9D141}"/>
              </a:ext>
            </a:extLst>
          </p:cNvPr>
          <p:cNvSpPr txBox="1"/>
          <p:nvPr/>
        </p:nvSpPr>
        <p:spPr>
          <a:xfrm>
            <a:off x="4147307" y="1046865"/>
            <a:ext cx="41032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/>
              <a:t>Motor de captura y detección del entorno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956A313-8DD4-CFDC-8211-277D923DD7A3}"/>
              </a:ext>
            </a:extLst>
          </p:cNvPr>
          <p:cNvSpPr txBox="1"/>
          <p:nvPr/>
        </p:nvSpPr>
        <p:spPr>
          <a:xfrm>
            <a:off x="430577" y="1917316"/>
            <a:ext cx="566501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/>
              <a:t>Rol Principal  </a:t>
            </a:r>
          </a:p>
          <a:p>
            <a:r>
              <a:rPr lang="es-ES" sz="1600"/>
              <a:t>Simula y gestiona la cámara ubicada en la barrera de acceso al parking Click-and-</a:t>
            </a:r>
            <a:r>
              <a:rPr lang="es-ES" sz="1600" err="1"/>
              <a:t>Collect</a:t>
            </a:r>
            <a:endParaRPr lang="es-ES" sz="160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E10A7A2-C2B1-C501-E7A8-E6194B21AC41}"/>
              </a:ext>
            </a:extLst>
          </p:cNvPr>
          <p:cNvSpPr txBox="1"/>
          <p:nvPr/>
        </p:nvSpPr>
        <p:spPr>
          <a:xfrm>
            <a:off x="430984" y="2914804"/>
            <a:ext cx="566501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/>
              <a:t>Comportamientos JADE (</a:t>
            </a:r>
            <a:r>
              <a:rPr lang="es-ES" b="1" i="1"/>
              <a:t>Behaviors</a:t>
            </a:r>
            <a:r>
              <a:rPr lang="es-ES" b="1"/>
              <a:t>)</a:t>
            </a:r>
            <a:endParaRPr lang="es-ES"/>
          </a:p>
          <a:p>
            <a:r>
              <a:rPr lang="es-ES" sz="1600" b="1"/>
              <a:t>TickerBehaviour: </a:t>
            </a:r>
            <a:r>
              <a:rPr lang="es-ES" sz="1600"/>
              <a:t>Simula la detección constante de vehículos frente a la barrera en ciclos de tiempo regulares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8B9ECAE-9E12-7B22-AAED-EB9839B560E8}"/>
              </a:ext>
            </a:extLst>
          </p:cNvPr>
          <p:cNvSpPr txBox="1"/>
          <p:nvPr/>
        </p:nvSpPr>
        <p:spPr>
          <a:xfrm>
            <a:off x="430984" y="4023344"/>
            <a:ext cx="50791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/>
              <a:t>Lógica de Visión (</a:t>
            </a:r>
            <a:r>
              <a:rPr lang="es-ES" b="1" err="1"/>
              <a:t>OpenCV</a:t>
            </a:r>
            <a:r>
              <a:rPr lang="es-ES" b="1"/>
              <a:t>)</a:t>
            </a:r>
            <a:endParaRPr lang="es-ES"/>
          </a:p>
          <a:p>
            <a:r>
              <a:rPr lang="es-ES" sz="1400"/>
              <a:t>Captura el </a:t>
            </a:r>
            <a:r>
              <a:rPr lang="es-ES" sz="1400" i="1" err="1"/>
              <a:t>frame</a:t>
            </a:r>
            <a:r>
              <a:rPr lang="es-ES" sz="1400"/>
              <a:t> del coche detenido</a:t>
            </a:r>
          </a:p>
          <a:p>
            <a:r>
              <a:rPr lang="es-ES" sz="1400"/>
              <a:t>Procesa y aísla la zona de la matrícula (escala de grises, binarización y contornos)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9AC970B-5F6B-2737-88E1-92CB377C3D6E}"/>
              </a:ext>
            </a:extLst>
          </p:cNvPr>
          <p:cNvSpPr txBox="1"/>
          <p:nvPr/>
        </p:nvSpPr>
        <p:spPr>
          <a:xfrm>
            <a:off x="461917" y="5140002"/>
            <a:ext cx="6096698" cy="8002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s-ES" b="1"/>
              <a:t>Comunicación FIPA-ACL</a:t>
            </a:r>
            <a:endParaRPr lang="es-ES"/>
          </a:p>
          <a:p>
            <a:r>
              <a:rPr lang="es-ES" sz="1400"/>
              <a:t>Al detectar una matrícula válida, empaqueta el texto y envía un mensaje asíncrono</a:t>
            </a:r>
            <a:r>
              <a:rPr lang="es-ES" sz="1400" b="1"/>
              <a:t> </a:t>
            </a:r>
            <a:r>
              <a:rPr lang="es-ES" sz="1400"/>
              <a:t>al </a:t>
            </a:r>
            <a:r>
              <a:rPr lang="es-ES" sz="1400" b="1"/>
              <a:t>Agente de Procesamiento</a:t>
            </a:r>
            <a:endParaRPr lang="es-ES" sz="140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F2CEB8B-C3DB-9F4C-B4BD-29B450D83B53}"/>
              </a:ext>
            </a:extLst>
          </p:cNvPr>
          <p:cNvSpPr/>
          <p:nvPr/>
        </p:nvSpPr>
        <p:spPr>
          <a:xfrm>
            <a:off x="7928101" y="1719170"/>
            <a:ext cx="2189524" cy="46319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Cámara </a:t>
            </a:r>
            <a:r>
              <a:rPr lang="es-ES">
                <a:solidFill>
                  <a:schemeClr val="tx1"/>
                </a:solidFill>
                <a:sym typeface="Wingdings" panose="05000000000000000000" pitchFamily="2" charset="2"/>
              </a:rPr>
              <a:t> Frame</a:t>
            </a:r>
            <a:endParaRPr lang="es-ES">
              <a:solidFill>
                <a:schemeClr val="tx1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E220EEA-116C-8FCC-9132-AE5022B73BD6}"/>
              </a:ext>
            </a:extLst>
          </p:cNvPr>
          <p:cNvSpPr/>
          <p:nvPr/>
        </p:nvSpPr>
        <p:spPr>
          <a:xfrm>
            <a:off x="7928101" y="2639658"/>
            <a:ext cx="2189524" cy="46319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Escala de grises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D6EB142-C55B-8B5B-7B7D-B29CF571B149}"/>
              </a:ext>
            </a:extLst>
          </p:cNvPr>
          <p:cNvSpPr/>
          <p:nvPr/>
        </p:nvSpPr>
        <p:spPr>
          <a:xfrm>
            <a:off x="7928101" y="3560146"/>
            <a:ext cx="2189524" cy="46319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Filtro </a:t>
            </a:r>
            <a:r>
              <a:rPr lang="es-ES" i="1">
                <a:solidFill>
                  <a:schemeClr val="tx1"/>
                </a:solidFill>
              </a:rPr>
              <a:t>gaussiano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EB01A516-CDD0-8A16-92C5-D627737082B5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9022863" y="2182368"/>
            <a:ext cx="0" cy="457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D45A94E-E899-281A-64B6-A88BDD7A1A8E}"/>
              </a:ext>
            </a:extLst>
          </p:cNvPr>
          <p:cNvSpPr txBox="1"/>
          <p:nvPr/>
        </p:nvSpPr>
        <p:spPr>
          <a:xfrm>
            <a:off x="9022863" y="2252525"/>
            <a:ext cx="644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/>
              <a:t>Frame</a:t>
            </a:r>
            <a:endParaRPr lang="es-ES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99104D43-8770-35E1-B218-8ADC928ACB3E}"/>
              </a:ext>
            </a:extLst>
          </p:cNvPr>
          <p:cNvCxnSpPr/>
          <p:nvPr/>
        </p:nvCxnSpPr>
        <p:spPr>
          <a:xfrm>
            <a:off x="9018500" y="3117046"/>
            <a:ext cx="0" cy="457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3C783A8-D3D1-EF6E-B4B4-23207BC2061A}"/>
              </a:ext>
            </a:extLst>
          </p:cNvPr>
          <p:cNvSpPr txBox="1"/>
          <p:nvPr/>
        </p:nvSpPr>
        <p:spPr>
          <a:xfrm>
            <a:off x="9023491" y="3173471"/>
            <a:ext cx="15099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/>
              <a:t>Frame en grises</a:t>
            </a:r>
            <a:endParaRPr lang="es-ES"/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38BD525A-33E1-9535-F6FE-E85A9568B6A6}"/>
              </a:ext>
            </a:extLst>
          </p:cNvPr>
          <p:cNvCxnSpPr/>
          <p:nvPr/>
        </p:nvCxnSpPr>
        <p:spPr>
          <a:xfrm>
            <a:off x="9018500" y="4035219"/>
            <a:ext cx="0" cy="457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16B67ED-C532-C74A-9BF4-8A63CA0476BA}"/>
              </a:ext>
            </a:extLst>
          </p:cNvPr>
          <p:cNvSpPr/>
          <p:nvPr/>
        </p:nvSpPr>
        <p:spPr>
          <a:xfrm>
            <a:off x="7928101" y="4492509"/>
            <a:ext cx="2189524" cy="46319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Detección de bordes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841B102-B5B9-ABE6-1BC7-1FB728437E0E}"/>
              </a:ext>
            </a:extLst>
          </p:cNvPr>
          <p:cNvSpPr txBox="1"/>
          <p:nvPr/>
        </p:nvSpPr>
        <p:spPr>
          <a:xfrm>
            <a:off x="9023491" y="4115472"/>
            <a:ext cx="15099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/>
              <a:t>Frame </a:t>
            </a:r>
            <a:r>
              <a:rPr lang="es-ES" sz="1400" i="1" err="1"/>
              <a:t>blur</a:t>
            </a:r>
            <a:endParaRPr lang="es-ES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7AFC9E0-2716-D21F-DEC6-ACCE8268B473}"/>
              </a:ext>
            </a:extLst>
          </p:cNvPr>
          <p:cNvSpPr/>
          <p:nvPr/>
        </p:nvSpPr>
        <p:spPr>
          <a:xfrm>
            <a:off x="7923738" y="5410726"/>
            <a:ext cx="2189524" cy="46319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Contornos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6822C99D-BB29-E941-AA94-504BF5A388C2}"/>
              </a:ext>
            </a:extLst>
          </p:cNvPr>
          <p:cNvCxnSpPr/>
          <p:nvPr/>
        </p:nvCxnSpPr>
        <p:spPr>
          <a:xfrm>
            <a:off x="9018500" y="4944194"/>
            <a:ext cx="0" cy="457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416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CA20A-4536-39B1-DA26-411138710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3821" y="79899"/>
            <a:ext cx="6204358" cy="1325563"/>
          </a:xfrm>
        </p:spPr>
        <p:txBody>
          <a:bodyPr/>
          <a:lstStyle/>
          <a:p>
            <a:r>
              <a:rPr lang="es-ES" b="1"/>
              <a:t>Agente de Procesamiento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6135BC2-F324-80DE-FCB8-32F29954CC39}"/>
              </a:ext>
            </a:extLst>
          </p:cNvPr>
          <p:cNvSpPr txBox="1"/>
          <p:nvPr/>
        </p:nvSpPr>
        <p:spPr>
          <a:xfrm>
            <a:off x="2993821" y="1036130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/>
              <a:t>Gestión de pedidos, asignación de plazas y control de estados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5DF0A8D-E3E8-075E-ED36-734673222303}"/>
              </a:ext>
            </a:extLst>
          </p:cNvPr>
          <p:cNvCxnSpPr/>
          <p:nvPr/>
        </p:nvCxnSpPr>
        <p:spPr>
          <a:xfrm>
            <a:off x="5956183" y="1468073"/>
            <a:ext cx="33556" cy="4995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11881D38-77FD-D604-111D-8C79D1FFEC51}"/>
              </a:ext>
            </a:extLst>
          </p:cNvPr>
          <p:cNvSpPr txBox="1"/>
          <p:nvPr/>
        </p:nvSpPr>
        <p:spPr>
          <a:xfrm>
            <a:off x="320759" y="1650089"/>
            <a:ext cx="5460091" cy="80021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s-ES" b="1"/>
              <a:t>Rol Principal</a:t>
            </a:r>
          </a:p>
          <a:p>
            <a:r>
              <a:rPr lang="es-ES" sz="1400"/>
              <a:t>Centraliza la lógica de negocio del sistema </a:t>
            </a:r>
            <a:r>
              <a:rPr lang="es-ES" sz="1400" i="1"/>
              <a:t>Click-and-</a:t>
            </a:r>
            <a:r>
              <a:rPr lang="es-ES" sz="1400" i="1" err="1"/>
              <a:t>Collect</a:t>
            </a:r>
            <a:r>
              <a:rPr lang="es-ES" sz="1400"/>
              <a:t> </a:t>
            </a:r>
          </a:p>
          <a:p>
            <a:r>
              <a:rPr lang="es-ES" sz="1400"/>
              <a:t>Se activa al recibir información del entorno</a:t>
            </a:r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FA39A49-01C9-E40D-2C9D-AC1DC276D0CA}"/>
              </a:ext>
            </a:extLst>
          </p:cNvPr>
          <p:cNvSpPr txBox="1"/>
          <p:nvPr/>
        </p:nvSpPr>
        <p:spPr>
          <a:xfrm>
            <a:off x="328662" y="2805102"/>
            <a:ext cx="53976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/>
              <a:t>Comportamientos JADE (</a:t>
            </a:r>
            <a:r>
              <a:rPr lang="es-ES" b="1" i="1"/>
              <a:t>Behaviors</a:t>
            </a:r>
            <a:r>
              <a:rPr lang="es-ES" b="1"/>
              <a:t>)</a:t>
            </a:r>
            <a:endParaRPr lang="es-ES"/>
          </a:p>
          <a:p>
            <a:r>
              <a:rPr lang="es-ES" sz="1400" b="1"/>
              <a:t>FSMBehaviour (Estructura Central):</a:t>
            </a:r>
            <a:r>
              <a:rPr lang="es-ES" sz="1400"/>
              <a:t> Coordina el ciclo de vida del proceso en 5 estados lógicos (Esperar, Comprobar, Asignar, Entrega y Liberar).</a:t>
            </a:r>
          </a:p>
          <a:p>
            <a:r>
              <a:rPr lang="es-ES" sz="1400" b="1"/>
              <a:t>OneShotBehaviour:</a:t>
            </a:r>
            <a:r>
              <a:rPr lang="es-ES" sz="1400"/>
              <a:t> Ejecuta de forma inmediata las acciones de validación de pedidos, asignación y liberación de plazas.</a:t>
            </a:r>
          </a:p>
          <a:p>
            <a:r>
              <a:rPr lang="es-ES" sz="1400" b="1"/>
              <a:t>WakerBehaviour:</a:t>
            </a:r>
            <a:r>
              <a:rPr lang="es-ES" sz="1400"/>
              <a:t> Gestiona el temporizador de simulación de entrega del pedido antes de liberar la plaza.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49577F0-1345-B9F7-BD75-D30CFDC9F2EA}"/>
              </a:ext>
            </a:extLst>
          </p:cNvPr>
          <p:cNvSpPr txBox="1"/>
          <p:nvPr/>
        </p:nvSpPr>
        <p:spPr>
          <a:xfrm>
            <a:off x="284178" y="5060307"/>
            <a:ext cx="5458086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s-ES" b="1"/>
              <a:t>Lógica de Negocio</a:t>
            </a:r>
          </a:p>
          <a:p>
            <a:r>
              <a:rPr lang="es-ES" sz="1400"/>
              <a:t>Consulta los datos guardados de pedidos asociados a matrículas.</a:t>
            </a:r>
            <a:endParaRPr lang="es-ES" sz="1400">
              <a:ea typeface="Calibri"/>
              <a:cs typeface="Calibri"/>
            </a:endParaRPr>
          </a:p>
          <a:p>
            <a:r>
              <a:rPr lang="es-ES" sz="1400"/>
              <a:t>Verifica la disponibilidad en la zona exclusiva de parking</a:t>
            </a:r>
          </a:p>
          <a:p>
            <a:r>
              <a:rPr lang="es-ES" sz="1400"/>
              <a:t>Modifica el estado del sistema y delega la respuesta.</a:t>
            </a:r>
            <a:endParaRPr lang="es-ES" sz="1400">
              <a:ea typeface="Calibri"/>
              <a:cs typeface="Calibri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3966BF5-AD98-A950-4864-994A6C99871E}"/>
              </a:ext>
            </a:extLst>
          </p:cNvPr>
          <p:cNvSpPr txBox="1"/>
          <p:nvPr/>
        </p:nvSpPr>
        <p:spPr>
          <a:xfrm>
            <a:off x="6135498" y="1652617"/>
            <a:ext cx="1951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/>
              <a:t>Estado: ESPERA 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30ADE574-6752-E281-6903-973DB13DD979}"/>
              </a:ext>
            </a:extLst>
          </p:cNvPr>
          <p:cNvCxnSpPr>
            <a:cxnSpLocks/>
          </p:cNvCxnSpPr>
          <p:nvPr/>
        </p:nvCxnSpPr>
        <p:spPr>
          <a:xfrm>
            <a:off x="7806658" y="1840633"/>
            <a:ext cx="177007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DB879C0-67E6-D20A-81A9-52B03D1406FA}"/>
              </a:ext>
            </a:extLst>
          </p:cNvPr>
          <p:cNvSpPr txBox="1"/>
          <p:nvPr/>
        </p:nvSpPr>
        <p:spPr>
          <a:xfrm>
            <a:off x="7982648" y="1542380"/>
            <a:ext cx="19892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Recibe Matrícula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E42A921-BD06-F06F-8DDE-1B0DE23AD7FE}"/>
              </a:ext>
            </a:extLst>
          </p:cNvPr>
          <p:cNvSpPr txBox="1"/>
          <p:nvPr/>
        </p:nvSpPr>
        <p:spPr>
          <a:xfrm>
            <a:off x="9659576" y="1600854"/>
            <a:ext cx="2393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/>
              <a:t>Validación de Pedido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AF225490-7732-FC94-E493-CE479E52EBD5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10856229" y="1970186"/>
            <a:ext cx="6989" cy="73106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43E61BC3-514A-AEB1-6480-B9E379071018}"/>
              </a:ext>
            </a:extLst>
          </p:cNvPr>
          <p:cNvCxnSpPr/>
          <p:nvPr/>
        </p:nvCxnSpPr>
        <p:spPr>
          <a:xfrm flipH="1">
            <a:off x="7156860" y="2701255"/>
            <a:ext cx="370915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5BF9F692-3968-372E-535F-14F3339EF4EF}"/>
              </a:ext>
            </a:extLst>
          </p:cNvPr>
          <p:cNvCxnSpPr>
            <a:cxnSpLocks/>
          </p:cNvCxnSpPr>
          <p:nvPr/>
        </p:nvCxnSpPr>
        <p:spPr>
          <a:xfrm>
            <a:off x="10866015" y="2701255"/>
            <a:ext cx="0" cy="7675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CF191C3C-E633-7862-53C8-A569851F2856}"/>
              </a:ext>
            </a:extLst>
          </p:cNvPr>
          <p:cNvCxnSpPr>
            <a:cxnSpLocks/>
          </p:cNvCxnSpPr>
          <p:nvPr/>
        </p:nvCxnSpPr>
        <p:spPr>
          <a:xfrm>
            <a:off x="7156860" y="2701255"/>
            <a:ext cx="0" cy="7373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2F6320B-E9DA-896B-2283-44DAD18761E5}"/>
              </a:ext>
            </a:extLst>
          </p:cNvPr>
          <p:cNvSpPr txBox="1"/>
          <p:nvPr/>
        </p:nvSpPr>
        <p:spPr>
          <a:xfrm>
            <a:off x="7515839" y="2410448"/>
            <a:ext cx="3047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No hay pedido / Parking lleno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F10A81E-66BC-C7F1-559C-451500CCB93F}"/>
              </a:ext>
            </a:extLst>
          </p:cNvPr>
          <p:cNvSpPr txBox="1"/>
          <p:nvPr/>
        </p:nvSpPr>
        <p:spPr>
          <a:xfrm>
            <a:off x="6165908" y="3482750"/>
            <a:ext cx="281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/>
              <a:t>Estado: Acceso denegado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E03BD23F-14B1-F92B-34F6-5F3D61A42278}"/>
              </a:ext>
            </a:extLst>
          </p:cNvPr>
          <p:cNvSpPr txBox="1"/>
          <p:nvPr/>
        </p:nvSpPr>
        <p:spPr>
          <a:xfrm>
            <a:off x="10866015" y="2845422"/>
            <a:ext cx="11671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Pedido OK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5AA350C-1AC3-C292-B981-42E1B60E1C29}"/>
              </a:ext>
            </a:extLst>
          </p:cNvPr>
          <p:cNvSpPr txBox="1"/>
          <p:nvPr/>
        </p:nvSpPr>
        <p:spPr>
          <a:xfrm>
            <a:off x="9849723" y="3520270"/>
            <a:ext cx="2203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/>
              <a:t>Asignación de Plaza </a:t>
            </a: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4FC272A0-104D-1F43-235B-93E703321599}"/>
              </a:ext>
            </a:extLst>
          </p:cNvPr>
          <p:cNvCxnSpPr/>
          <p:nvPr/>
        </p:nvCxnSpPr>
        <p:spPr>
          <a:xfrm>
            <a:off x="7156860" y="3942826"/>
            <a:ext cx="0" cy="10066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3A31F11A-506F-6FE1-350C-0666B5FEECA4}"/>
              </a:ext>
            </a:extLst>
          </p:cNvPr>
          <p:cNvCxnSpPr/>
          <p:nvPr/>
        </p:nvCxnSpPr>
        <p:spPr>
          <a:xfrm>
            <a:off x="10863218" y="3942826"/>
            <a:ext cx="0" cy="10066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FDC58D2A-599D-544D-F176-C68CC1BA9F57}"/>
              </a:ext>
            </a:extLst>
          </p:cNvPr>
          <p:cNvCxnSpPr>
            <a:cxnSpLocks/>
          </p:cNvCxnSpPr>
          <p:nvPr/>
        </p:nvCxnSpPr>
        <p:spPr>
          <a:xfrm>
            <a:off x="7156860" y="4949504"/>
            <a:ext cx="370635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25AFC782-DA51-9F4C-1F39-CBF3A21FBC69}"/>
              </a:ext>
            </a:extLst>
          </p:cNvPr>
          <p:cNvCxnSpPr/>
          <p:nvPr/>
        </p:nvCxnSpPr>
        <p:spPr>
          <a:xfrm>
            <a:off x="8938471" y="4949504"/>
            <a:ext cx="0" cy="56625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D792B4A4-2EA7-7665-0C2D-9903614D3034}"/>
              </a:ext>
            </a:extLst>
          </p:cNvPr>
          <p:cNvSpPr txBox="1"/>
          <p:nvPr/>
        </p:nvSpPr>
        <p:spPr>
          <a:xfrm>
            <a:off x="7583651" y="5623824"/>
            <a:ext cx="3047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/>
              <a:t>Mensaje ACL a Visualización</a:t>
            </a:r>
          </a:p>
        </p:txBody>
      </p:sp>
    </p:spTree>
    <p:extLst>
      <p:ext uri="{BB962C8B-B14F-4D97-AF65-F5344CB8AC3E}">
        <p14:creationId xmlns:p14="http://schemas.microsoft.com/office/powerpoint/2010/main" val="1514935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D295FE-A625-D5F4-CF1F-E691370AE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889" y="1053"/>
            <a:ext cx="6513740" cy="1325563"/>
          </a:xfrm>
        </p:spPr>
        <p:txBody>
          <a:bodyPr/>
          <a:lstStyle/>
          <a:p>
            <a:r>
              <a:rPr lang="es-ES" b="1"/>
              <a:t>Agente de Visualización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B1A4529-892D-E634-3422-6FC253A1759B}"/>
              </a:ext>
            </a:extLst>
          </p:cNvPr>
          <p:cNvSpPr txBox="1"/>
          <p:nvPr/>
        </p:nvSpPr>
        <p:spPr>
          <a:xfrm>
            <a:off x="4643869" y="959591"/>
            <a:ext cx="3121753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ES"/>
              <a:t>Informa al usuario del estado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EE7AF40-3AF5-8DB2-6F22-40C2F5CE7978}"/>
              </a:ext>
            </a:extLst>
          </p:cNvPr>
          <p:cNvSpPr txBox="1"/>
          <p:nvPr/>
        </p:nvSpPr>
        <p:spPr>
          <a:xfrm>
            <a:off x="414061" y="1537506"/>
            <a:ext cx="568193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/>
              <a:t>Rol Principal</a:t>
            </a:r>
          </a:p>
          <a:p>
            <a:r>
              <a:rPr lang="es-ES" sz="1400"/>
              <a:t>Gestiona la pantalla situada junto a la barrera de acceso y la pantalla asignada a la plaza de parking correspondiente.</a:t>
            </a:r>
          </a:p>
          <a:p>
            <a:r>
              <a:rPr lang="es-ES" sz="1400"/>
              <a:t>Traduce los datos técnicos en información comprensible para el conductor.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58A1F0F-4AB2-8FAE-B6DD-4318B7D9E311}"/>
              </a:ext>
            </a:extLst>
          </p:cNvPr>
          <p:cNvSpPr txBox="1"/>
          <p:nvPr/>
        </p:nvSpPr>
        <p:spPr>
          <a:xfrm>
            <a:off x="414060" y="3655454"/>
            <a:ext cx="5891737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/>
              <a:t>Comportamientos JADE (</a:t>
            </a:r>
            <a:r>
              <a:rPr lang="es-ES" b="1" i="1" err="1"/>
              <a:t>Behaviors</a:t>
            </a:r>
            <a:r>
              <a:rPr lang="es-ES" b="1"/>
              <a:t>)</a:t>
            </a:r>
            <a:endParaRPr lang="es-ES"/>
          </a:p>
          <a:p>
            <a:r>
              <a:rPr lang="es-ES" sz="1400" b="1" err="1"/>
              <a:t>CyclicBehaviour</a:t>
            </a:r>
            <a:r>
              <a:rPr lang="es-ES" sz="1400"/>
              <a:t>: En escucha permanente de los mensajes enviados por el Agente de Procesamiento. Actualiza la interfaz de forma dinámica y asíncrona.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6B14C81-2359-679A-D128-8621D46021EC}"/>
              </a:ext>
            </a:extLst>
          </p:cNvPr>
          <p:cNvSpPr txBox="1"/>
          <p:nvPr/>
        </p:nvSpPr>
        <p:spPr>
          <a:xfrm>
            <a:off x="414060" y="4882007"/>
            <a:ext cx="6096698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/>
              <a:t>Elementos que controla en la UI</a:t>
            </a:r>
            <a:endParaRPr lang="es-ES"/>
          </a:p>
          <a:p>
            <a:r>
              <a:rPr lang="es-ES" sz="1400"/>
              <a:t>Estado de la barrera (Abierta / Cerrada)</a:t>
            </a:r>
          </a:p>
          <a:p>
            <a:r>
              <a:rPr lang="es-ES" sz="1400"/>
              <a:t>Número de plaza de parking asignada dinámicamente</a:t>
            </a:r>
          </a:p>
          <a:p>
            <a:r>
              <a:rPr lang="es-ES" sz="1400"/>
              <a:t>Temporizador con el tiempo estimado de entrega del pedido</a:t>
            </a:r>
          </a:p>
          <a:p>
            <a:r>
              <a:rPr lang="es-ES" sz="1400"/>
              <a:t>Mensajes de denegación de acceso (si no hay pedido o el parking está lleno)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A980EF2-46D1-837B-A3F9-735B33C00590}"/>
              </a:ext>
            </a:extLst>
          </p:cNvPr>
          <p:cNvSpPr txBox="1"/>
          <p:nvPr/>
        </p:nvSpPr>
        <p:spPr>
          <a:xfrm>
            <a:off x="414061" y="2644345"/>
            <a:ext cx="609669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err="1"/>
              <a:t>setup</a:t>
            </a:r>
            <a:r>
              <a:rPr lang="es-ES" b="1">
                <a:latin typeface="Courier New" panose="02070309020205020404" pitchFamily="49" charset="0"/>
              </a:rPr>
              <a:t>()</a:t>
            </a:r>
            <a:r>
              <a:rPr lang="es-ES" b="1"/>
              <a:t> del Agente</a:t>
            </a:r>
          </a:p>
          <a:p>
            <a:r>
              <a:rPr lang="es-ES" sz="1400"/>
              <a:t>Inicializa de forma nativa las ventanas gráficas de la Barrera y de la Plaza de parking mediante Java Swing.</a:t>
            </a:r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FEAA587-C3E4-9931-FE5E-8CC64C3BCC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87" t="5552" r="5012" b="43763"/>
          <a:stretch>
            <a:fillRect/>
          </a:stretch>
        </p:blipFill>
        <p:spPr>
          <a:xfrm>
            <a:off x="7048136" y="1537506"/>
            <a:ext cx="4413504" cy="254812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0FFD3CC-3914-3FFC-6EE0-509FBFC117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69" t="59534" r="4268" b="3846"/>
          <a:stretch>
            <a:fillRect/>
          </a:stretch>
        </p:blipFill>
        <p:spPr>
          <a:xfrm>
            <a:off x="7048136" y="4294217"/>
            <a:ext cx="4401313" cy="184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161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576C9D-4A48-2467-4EC3-6ADC9CF64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74" y="155196"/>
            <a:ext cx="5419987" cy="482367"/>
          </a:xfrm>
        </p:spPr>
        <p:txBody>
          <a:bodyPr>
            <a:normAutofit fontScale="90000"/>
          </a:bodyPr>
          <a:lstStyle/>
          <a:p>
            <a:r>
              <a:rPr lang="es-ES" sz="2400" b="1"/>
              <a:t>Diagrama de funcionamiento de los agentes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D026031-16E6-5BBB-F074-B9F51DDBF1E5}"/>
              </a:ext>
            </a:extLst>
          </p:cNvPr>
          <p:cNvSpPr txBox="1"/>
          <p:nvPr/>
        </p:nvSpPr>
        <p:spPr>
          <a:xfrm>
            <a:off x="1156982" y="893240"/>
            <a:ext cx="2189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Agente lector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3FF8666A-ADBD-D76F-264C-F61541B9BFC6}"/>
              </a:ext>
            </a:extLst>
          </p:cNvPr>
          <p:cNvCxnSpPr/>
          <p:nvPr/>
        </p:nvCxnSpPr>
        <p:spPr>
          <a:xfrm>
            <a:off x="3871520" y="1121627"/>
            <a:ext cx="0" cy="52557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D300F9F7-7BEA-4AF8-4ABB-D32640817717}"/>
              </a:ext>
            </a:extLst>
          </p:cNvPr>
          <p:cNvSpPr txBox="1"/>
          <p:nvPr/>
        </p:nvSpPr>
        <p:spPr>
          <a:xfrm>
            <a:off x="4705526" y="851497"/>
            <a:ext cx="2780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Agente de procesamiento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AD7848D-AC2A-F16D-0BB3-FE23CA3C6566}"/>
              </a:ext>
            </a:extLst>
          </p:cNvPr>
          <p:cNvCxnSpPr>
            <a:cxnSpLocks/>
          </p:cNvCxnSpPr>
          <p:nvPr/>
        </p:nvCxnSpPr>
        <p:spPr>
          <a:xfrm>
            <a:off x="8095376" y="1128319"/>
            <a:ext cx="33556" cy="51676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EDAE3D6-3679-A3A1-638E-3300C97ADBCB}"/>
              </a:ext>
            </a:extLst>
          </p:cNvPr>
          <p:cNvSpPr txBox="1"/>
          <p:nvPr/>
        </p:nvSpPr>
        <p:spPr>
          <a:xfrm>
            <a:off x="8942664" y="893240"/>
            <a:ext cx="2780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Agente de Visualización 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E5F8ACF-43DB-5818-1F26-8A08910AE1B8}"/>
              </a:ext>
            </a:extLst>
          </p:cNvPr>
          <p:cNvSpPr/>
          <p:nvPr/>
        </p:nvSpPr>
        <p:spPr>
          <a:xfrm>
            <a:off x="759205" y="1665214"/>
            <a:ext cx="2189524" cy="1031846"/>
          </a:xfrm>
          <a:prstGeom prst="rect">
            <a:avLst/>
          </a:prstGeom>
          <a:solidFill>
            <a:srgbClr val="AAF0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1C6E557-2BBC-E7A4-0C96-AD786D684807}"/>
              </a:ext>
            </a:extLst>
          </p:cNvPr>
          <p:cNvSpPr txBox="1"/>
          <p:nvPr/>
        </p:nvSpPr>
        <p:spPr>
          <a:xfrm>
            <a:off x="1156982" y="1704083"/>
            <a:ext cx="30140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TickerBehaviour</a:t>
            </a:r>
          </a:p>
          <a:p>
            <a:r>
              <a:rPr lang="es-ES" sz="1400"/>
              <a:t> (Bucle activo)</a:t>
            </a:r>
          </a:p>
          <a:p>
            <a:r>
              <a:rPr lang="es-ES" sz="1400"/>
              <a:t> </a:t>
            </a:r>
          </a:p>
          <a:p>
            <a:r>
              <a:rPr lang="es-ES" sz="1400"/>
              <a:t>Cámara + CV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1BC8E3F-0EBE-17AB-EF77-0F05DC3EE5F4}"/>
              </a:ext>
            </a:extLst>
          </p:cNvPr>
          <p:cNvSpPr/>
          <p:nvPr/>
        </p:nvSpPr>
        <p:spPr>
          <a:xfrm>
            <a:off x="761481" y="4223855"/>
            <a:ext cx="2189524" cy="1031846"/>
          </a:xfrm>
          <a:prstGeom prst="rect">
            <a:avLst/>
          </a:prstGeom>
          <a:solidFill>
            <a:srgbClr val="AAF0E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OCR</a:t>
            </a:r>
          </a:p>
          <a:p>
            <a:pPr algn="ctr"/>
            <a:r>
              <a:rPr lang="es-ES">
                <a:solidFill>
                  <a:schemeClr val="tx1"/>
                </a:solidFill>
              </a:rPr>
              <a:t>Tesseract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C544179-4E69-683B-246D-E87F59B07447}"/>
              </a:ext>
            </a:extLst>
          </p:cNvPr>
          <p:cNvSpPr txBox="1"/>
          <p:nvPr/>
        </p:nvSpPr>
        <p:spPr>
          <a:xfrm>
            <a:off x="297636" y="3244334"/>
            <a:ext cx="1695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/>
              <a:t>Detecta coche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35F6DC2F-41C4-7B72-FF47-B43CE0B75653}"/>
              </a:ext>
            </a:extLst>
          </p:cNvPr>
          <p:cNvCxnSpPr>
            <a:stCxn id="13" idx="2"/>
            <a:endCxn id="16" idx="0"/>
          </p:cNvCxnSpPr>
          <p:nvPr/>
        </p:nvCxnSpPr>
        <p:spPr>
          <a:xfrm>
            <a:off x="1853967" y="2697060"/>
            <a:ext cx="2276" cy="15267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8BF0818-1883-6B01-72F2-BE62D6913710}"/>
              </a:ext>
            </a:extLst>
          </p:cNvPr>
          <p:cNvSpPr/>
          <p:nvPr/>
        </p:nvSpPr>
        <p:spPr>
          <a:xfrm>
            <a:off x="4901446" y="1453901"/>
            <a:ext cx="2189524" cy="4886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FSM: ESPERAR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3FB4614D-F065-2D10-D720-12929D523801}"/>
              </a:ext>
            </a:extLst>
          </p:cNvPr>
          <p:cNvCxnSpPr>
            <a:stCxn id="16" idx="2"/>
          </p:cNvCxnSpPr>
          <p:nvPr/>
        </p:nvCxnSpPr>
        <p:spPr>
          <a:xfrm flipH="1">
            <a:off x="1853967" y="5255701"/>
            <a:ext cx="2276" cy="85148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DF907D99-9D21-5FD8-992B-F16BD17F1DE4}"/>
              </a:ext>
            </a:extLst>
          </p:cNvPr>
          <p:cNvCxnSpPr>
            <a:cxnSpLocks/>
          </p:cNvCxnSpPr>
          <p:nvPr/>
        </p:nvCxnSpPr>
        <p:spPr>
          <a:xfrm>
            <a:off x="1853967" y="6107185"/>
            <a:ext cx="181673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EE6560F2-40B1-D241-DE8E-5296C055F573}"/>
              </a:ext>
            </a:extLst>
          </p:cNvPr>
          <p:cNvCxnSpPr>
            <a:cxnSpLocks/>
          </p:cNvCxnSpPr>
          <p:nvPr/>
        </p:nvCxnSpPr>
        <p:spPr>
          <a:xfrm flipV="1">
            <a:off x="3670706" y="1262572"/>
            <a:ext cx="0" cy="484065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FAD108BF-2F7E-DD24-2292-E49AFA367423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3927274" y="1698244"/>
            <a:ext cx="97417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58C793C-A4F5-75C0-4A47-FF37FA92FEE0}"/>
              </a:ext>
            </a:extLst>
          </p:cNvPr>
          <p:cNvSpPr txBox="1"/>
          <p:nvPr/>
        </p:nvSpPr>
        <p:spPr>
          <a:xfrm>
            <a:off x="608901" y="6234180"/>
            <a:ext cx="35621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/>
              <a:t>Envía Matrícula FIPA-ACL (INFORM)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264E0DF0-B795-FDAF-7ED1-25A42FC6A178}"/>
              </a:ext>
            </a:extLst>
          </p:cNvPr>
          <p:cNvSpPr/>
          <p:nvPr/>
        </p:nvSpPr>
        <p:spPr>
          <a:xfrm>
            <a:off x="4900567" y="2252227"/>
            <a:ext cx="2189524" cy="4612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FSM: COMPROBAR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828421BC-6B21-77D9-25E5-D2D88A2D159C}"/>
              </a:ext>
            </a:extLst>
          </p:cNvPr>
          <p:cNvSpPr/>
          <p:nvPr/>
        </p:nvSpPr>
        <p:spPr>
          <a:xfrm>
            <a:off x="4901446" y="4992106"/>
            <a:ext cx="2189524" cy="63225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FSM: ENTREGA</a:t>
            </a:r>
          </a:p>
          <a:p>
            <a:pPr algn="ctr"/>
            <a:r>
              <a:rPr lang="es-ES">
                <a:solidFill>
                  <a:schemeClr val="tx1"/>
                </a:solidFill>
              </a:rPr>
              <a:t>(Waker: 30 </a:t>
            </a:r>
            <a:r>
              <a:rPr lang="es-ES" err="1">
                <a:solidFill>
                  <a:schemeClr val="tx1"/>
                </a:solidFill>
              </a:rPr>
              <a:t>seg</a:t>
            </a:r>
            <a:r>
              <a:rPr lang="es-ES">
                <a:solidFill>
                  <a:schemeClr val="tx1"/>
                </a:solidFill>
              </a:rPr>
              <a:t>)</a:t>
            </a:r>
            <a:endParaRPr lang="es-ES">
              <a:solidFill>
                <a:schemeClr val="tx1"/>
              </a:solidFill>
              <a:ea typeface="Calibri"/>
              <a:cs typeface="Calibri"/>
            </a:endParaRP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1DEE396B-C28B-3340-BA1A-E5BD2422369C}"/>
              </a:ext>
            </a:extLst>
          </p:cNvPr>
          <p:cNvCxnSpPr>
            <a:cxnSpLocks/>
            <a:stCxn id="22" idx="2"/>
            <a:endCxn id="43" idx="0"/>
          </p:cNvCxnSpPr>
          <p:nvPr/>
        </p:nvCxnSpPr>
        <p:spPr>
          <a:xfrm flipH="1">
            <a:off x="5995329" y="1942587"/>
            <a:ext cx="879" cy="3096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2F969B24-0F36-CAE5-F1C0-EE3C2673D743}"/>
              </a:ext>
            </a:extLst>
          </p:cNvPr>
          <p:cNvCxnSpPr>
            <a:cxnSpLocks/>
            <a:stCxn id="43" idx="2"/>
            <a:endCxn id="81" idx="0"/>
          </p:cNvCxnSpPr>
          <p:nvPr/>
        </p:nvCxnSpPr>
        <p:spPr>
          <a:xfrm flipH="1">
            <a:off x="5993932" y="2713436"/>
            <a:ext cx="1397" cy="4350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5431D99A-AF35-A2F3-0529-DB93C550A038}"/>
              </a:ext>
            </a:extLst>
          </p:cNvPr>
          <p:cNvCxnSpPr>
            <a:cxnSpLocks/>
            <a:stCxn id="78" idx="2"/>
            <a:endCxn id="45" idx="0"/>
          </p:cNvCxnSpPr>
          <p:nvPr/>
        </p:nvCxnSpPr>
        <p:spPr>
          <a:xfrm>
            <a:off x="4974672" y="4502867"/>
            <a:ext cx="1021536" cy="48923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uadroTexto 67">
            <a:extLst>
              <a:ext uri="{FF2B5EF4-FFF2-40B4-BE49-F238E27FC236}">
                <a16:creationId xmlns:a16="http://schemas.microsoft.com/office/drawing/2014/main" id="{4B873F65-E1DC-7B99-3041-0A91A7ECDB12}"/>
              </a:ext>
            </a:extLst>
          </p:cNvPr>
          <p:cNvSpPr txBox="1"/>
          <p:nvPr/>
        </p:nvSpPr>
        <p:spPr>
          <a:xfrm>
            <a:off x="4899170" y="1939350"/>
            <a:ext cx="10066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/>
              <a:t>Despierta</a:t>
            </a: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515FB58A-392D-DAB3-5B0F-CD22480FACE9}"/>
              </a:ext>
            </a:extLst>
          </p:cNvPr>
          <p:cNvSpPr/>
          <p:nvPr/>
        </p:nvSpPr>
        <p:spPr>
          <a:xfrm>
            <a:off x="4091909" y="4014181"/>
            <a:ext cx="1765525" cy="4886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FSM: ASIGNAR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17DDB14E-EAEB-1D1C-FDB7-E6D477939B86}"/>
              </a:ext>
            </a:extLst>
          </p:cNvPr>
          <p:cNvSpPr/>
          <p:nvPr/>
        </p:nvSpPr>
        <p:spPr>
          <a:xfrm>
            <a:off x="6083066" y="4028530"/>
            <a:ext cx="1694925" cy="4886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FSM:RECHAZAR</a:t>
            </a:r>
          </a:p>
        </p:txBody>
      </p:sp>
      <p:sp>
        <p:nvSpPr>
          <p:cNvPr id="81" name="Rombo 80">
            <a:extLst>
              <a:ext uri="{FF2B5EF4-FFF2-40B4-BE49-F238E27FC236}">
                <a16:creationId xmlns:a16="http://schemas.microsoft.com/office/drawing/2014/main" id="{904BFE82-B6BE-CB2B-1C7F-F9C514BDFA12}"/>
              </a:ext>
            </a:extLst>
          </p:cNvPr>
          <p:cNvSpPr/>
          <p:nvPr/>
        </p:nvSpPr>
        <p:spPr>
          <a:xfrm>
            <a:off x="5834849" y="3148467"/>
            <a:ext cx="318166" cy="405173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97" name="Conector recto de flecha 96">
            <a:extLst>
              <a:ext uri="{FF2B5EF4-FFF2-40B4-BE49-F238E27FC236}">
                <a16:creationId xmlns:a16="http://schemas.microsoft.com/office/drawing/2014/main" id="{DE0AF6A5-28AB-E7E9-9EAB-BD5A5028C078}"/>
              </a:ext>
            </a:extLst>
          </p:cNvPr>
          <p:cNvCxnSpPr>
            <a:cxnSpLocks/>
            <a:stCxn id="81" idx="2"/>
            <a:endCxn id="78" idx="0"/>
          </p:cNvCxnSpPr>
          <p:nvPr/>
        </p:nvCxnSpPr>
        <p:spPr>
          <a:xfrm flipH="1">
            <a:off x="4974672" y="3553640"/>
            <a:ext cx="1019260" cy="4605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cto de flecha 99">
            <a:extLst>
              <a:ext uri="{FF2B5EF4-FFF2-40B4-BE49-F238E27FC236}">
                <a16:creationId xmlns:a16="http://schemas.microsoft.com/office/drawing/2014/main" id="{F1CFE04D-8BAA-5C16-9C9D-9989844B0A07}"/>
              </a:ext>
            </a:extLst>
          </p:cNvPr>
          <p:cNvCxnSpPr>
            <a:stCxn id="81" idx="2"/>
            <a:endCxn id="80" idx="0"/>
          </p:cNvCxnSpPr>
          <p:nvPr/>
        </p:nvCxnSpPr>
        <p:spPr>
          <a:xfrm>
            <a:off x="5993932" y="3553640"/>
            <a:ext cx="936597" cy="4748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C4E7F006-2D4C-E723-9D2D-E4D8C3FE3E6D}"/>
              </a:ext>
            </a:extLst>
          </p:cNvPr>
          <p:cNvSpPr txBox="1"/>
          <p:nvPr/>
        </p:nvSpPr>
        <p:spPr>
          <a:xfrm>
            <a:off x="4836253" y="2825301"/>
            <a:ext cx="1409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¿Tiene pedido?</a:t>
            </a:r>
          </a:p>
        </p:txBody>
      </p:sp>
      <p:sp>
        <p:nvSpPr>
          <p:cNvPr id="111" name="CuadroTexto 110">
            <a:extLst>
              <a:ext uri="{FF2B5EF4-FFF2-40B4-BE49-F238E27FC236}">
                <a16:creationId xmlns:a16="http://schemas.microsoft.com/office/drawing/2014/main" id="{4ED6667D-545F-450D-14F2-E4C00AA60C87}"/>
              </a:ext>
            </a:extLst>
          </p:cNvPr>
          <p:cNvSpPr txBox="1"/>
          <p:nvPr/>
        </p:nvSpPr>
        <p:spPr>
          <a:xfrm>
            <a:off x="4855482" y="3564813"/>
            <a:ext cx="484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Si</a:t>
            </a:r>
          </a:p>
        </p:txBody>
      </p: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E509BD8B-600F-4BDC-2076-EF35DD7A6C3B}"/>
              </a:ext>
            </a:extLst>
          </p:cNvPr>
          <p:cNvSpPr txBox="1"/>
          <p:nvPr/>
        </p:nvSpPr>
        <p:spPr>
          <a:xfrm>
            <a:off x="6769435" y="3527462"/>
            <a:ext cx="512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/>
              <a:t>No</a:t>
            </a:r>
          </a:p>
        </p:txBody>
      </p:sp>
      <p:sp>
        <p:nvSpPr>
          <p:cNvPr id="113" name="Rectángulo 112">
            <a:extLst>
              <a:ext uri="{FF2B5EF4-FFF2-40B4-BE49-F238E27FC236}">
                <a16:creationId xmlns:a16="http://schemas.microsoft.com/office/drawing/2014/main" id="{4EC0921A-D8C2-9186-0CD8-F3BC3FDD6C4E}"/>
              </a:ext>
            </a:extLst>
          </p:cNvPr>
          <p:cNvSpPr/>
          <p:nvPr/>
        </p:nvSpPr>
        <p:spPr>
          <a:xfrm>
            <a:off x="9238376" y="1792501"/>
            <a:ext cx="2189524" cy="63225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CyclicBehaviour</a:t>
            </a:r>
          </a:p>
        </p:txBody>
      </p:sp>
      <p:sp>
        <p:nvSpPr>
          <p:cNvPr id="114" name="Rectángulo 113">
            <a:extLst>
              <a:ext uri="{FF2B5EF4-FFF2-40B4-BE49-F238E27FC236}">
                <a16:creationId xmlns:a16="http://schemas.microsoft.com/office/drawing/2014/main" id="{E6794292-73B9-8609-521B-27783FAD11EB}"/>
              </a:ext>
            </a:extLst>
          </p:cNvPr>
          <p:cNvSpPr/>
          <p:nvPr/>
        </p:nvSpPr>
        <p:spPr>
          <a:xfrm>
            <a:off x="9238376" y="3553640"/>
            <a:ext cx="2189524" cy="63225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Actualización UI - Java Swing</a:t>
            </a:r>
          </a:p>
        </p:txBody>
      </p:sp>
      <p:cxnSp>
        <p:nvCxnSpPr>
          <p:cNvPr id="117" name="Conector recto 116">
            <a:extLst>
              <a:ext uri="{FF2B5EF4-FFF2-40B4-BE49-F238E27FC236}">
                <a16:creationId xmlns:a16="http://schemas.microsoft.com/office/drawing/2014/main" id="{1F5D575A-276C-20C7-5B97-0248DEDDAB32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7090091" y="6143492"/>
            <a:ext cx="1525403" cy="1562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cto 119">
            <a:extLst>
              <a:ext uri="{FF2B5EF4-FFF2-40B4-BE49-F238E27FC236}">
                <a16:creationId xmlns:a16="http://schemas.microsoft.com/office/drawing/2014/main" id="{A1053F84-DEF4-C104-5500-63404879D235}"/>
              </a:ext>
            </a:extLst>
          </p:cNvPr>
          <p:cNvCxnSpPr>
            <a:cxnSpLocks/>
          </p:cNvCxnSpPr>
          <p:nvPr/>
        </p:nvCxnSpPr>
        <p:spPr>
          <a:xfrm flipV="1">
            <a:off x="8615494" y="2108626"/>
            <a:ext cx="0" cy="403486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cto 123">
            <a:extLst>
              <a:ext uri="{FF2B5EF4-FFF2-40B4-BE49-F238E27FC236}">
                <a16:creationId xmlns:a16="http://schemas.microsoft.com/office/drawing/2014/main" id="{AC5FB7B4-6510-147C-30A2-1A1B57AEFA7E}"/>
              </a:ext>
            </a:extLst>
          </p:cNvPr>
          <p:cNvCxnSpPr>
            <a:stCxn id="80" idx="3"/>
          </p:cNvCxnSpPr>
          <p:nvPr/>
        </p:nvCxnSpPr>
        <p:spPr>
          <a:xfrm>
            <a:off x="7777991" y="4272873"/>
            <a:ext cx="50613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FB79DD18-F6AB-B6C2-BC56-10FFBA72055C}"/>
              </a:ext>
            </a:extLst>
          </p:cNvPr>
          <p:cNvCxnSpPr>
            <a:cxnSpLocks/>
          </p:cNvCxnSpPr>
          <p:nvPr/>
        </p:nvCxnSpPr>
        <p:spPr>
          <a:xfrm flipV="1">
            <a:off x="8284128" y="1522602"/>
            <a:ext cx="0" cy="277302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ector recto 129">
            <a:extLst>
              <a:ext uri="{FF2B5EF4-FFF2-40B4-BE49-F238E27FC236}">
                <a16:creationId xmlns:a16="http://schemas.microsoft.com/office/drawing/2014/main" id="{E3433106-36BD-2404-AF99-E6C28EFB37B2}"/>
              </a:ext>
            </a:extLst>
          </p:cNvPr>
          <p:cNvCxnSpPr>
            <a:cxnSpLocks/>
          </p:cNvCxnSpPr>
          <p:nvPr/>
        </p:nvCxnSpPr>
        <p:spPr>
          <a:xfrm>
            <a:off x="8284128" y="1522602"/>
            <a:ext cx="204901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ector recto de flecha 132">
            <a:extLst>
              <a:ext uri="{FF2B5EF4-FFF2-40B4-BE49-F238E27FC236}">
                <a16:creationId xmlns:a16="http://schemas.microsoft.com/office/drawing/2014/main" id="{2105AFC9-99F0-069E-78B4-62CA6C9C491E}"/>
              </a:ext>
            </a:extLst>
          </p:cNvPr>
          <p:cNvCxnSpPr>
            <a:cxnSpLocks/>
            <a:endCxn id="113" idx="1"/>
          </p:cNvCxnSpPr>
          <p:nvPr/>
        </p:nvCxnSpPr>
        <p:spPr>
          <a:xfrm>
            <a:off x="8595416" y="2108627"/>
            <a:ext cx="64296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cto de flecha 136">
            <a:extLst>
              <a:ext uri="{FF2B5EF4-FFF2-40B4-BE49-F238E27FC236}">
                <a16:creationId xmlns:a16="http://schemas.microsoft.com/office/drawing/2014/main" id="{897BA9A9-C0EC-80AC-6899-F409E9D5E309}"/>
              </a:ext>
            </a:extLst>
          </p:cNvPr>
          <p:cNvCxnSpPr>
            <a:cxnSpLocks/>
            <a:endCxn id="113" idx="0"/>
          </p:cNvCxnSpPr>
          <p:nvPr/>
        </p:nvCxnSpPr>
        <p:spPr>
          <a:xfrm>
            <a:off x="10333138" y="1522602"/>
            <a:ext cx="0" cy="26989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cto de flecha 140">
            <a:extLst>
              <a:ext uri="{FF2B5EF4-FFF2-40B4-BE49-F238E27FC236}">
                <a16:creationId xmlns:a16="http://schemas.microsoft.com/office/drawing/2014/main" id="{3E836DD3-FECF-464C-F0DA-ABD130069E7D}"/>
              </a:ext>
            </a:extLst>
          </p:cNvPr>
          <p:cNvCxnSpPr>
            <a:stCxn id="113" idx="2"/>
            <a:endCxn id="114" idx="0"/>
          </p:cNvCxnSpPr>
          <p:nvPr/>
        </p:nvCxnSpPr>
        <p:spPr>
          <a:xfrm>
            <a:off x="10333138" y="2424752"/>
            <a:ext cx="0" cy="112888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B7C7D12B-D526-FB53-6DA8-FDB03EFD66D9}"/>
              </a:ext>
            </a:extLst>
          </p:cNvPr>
          <p:cNvSpPr/>
          <p:nvPr/>
        </p:nvSpPr>
        <p:spPr>
          <a:xfrm>
            <a:off x="4900568" y="5914771"/>
            <a:ext cx="2189523" cy="4886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>
                <a:solidFill>
                  <a:schemeClr val="tx1"/>
                </a:solidFill>
              </a:rPr>
              <a:t>FSM:LIBERAR_PLAZA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DE040567-BDFE-72C9-7695-517C95AFF617}"/>
              </a:ext>
            </a:extLst>
          </p:cNvPr>
          <p:cNvCxnSpPr>
            <a:cxnSpLocks/>
            <a:stCxn id="45" idx="2"/>
            <a:endCxn id="10" idx="0"/>
          </p:cNvCxnSpPr>
          <p:nvPr/>
        </p:nvCxnSpPr>
        <p:spPr>
          <a:xfrm flipH="1">
            <a:off x="5995330" y="5624357"/>
            <a:ext cx="878" cy="2904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52677693-8FFC-3087-F265-18EE1641B8BC}"/>
              </a:ext>
            </a:extLst>
          </p:cNvPr>
          <p:cNvCxnSpPr>
            <a:stCxn id="10" idx="1"/>
          </p:cNvCxnSpPr>
          <p:nvPr/>
        </p:nvCxnSpPr>
        <p:spPr>
          <a:xfrm flipH="1">
            <a:off x="3934437" y="6159114"/>
            <a:ext cx="96613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8C30E65A-71CA-D27E-FCB4-024D2460C95F}"/>
              </a:ext>
            </a:extLst>
          </p:cNvPr>
          <p:cNvCxnSpPr>
            <a:cxnSpLocks/>
          </p:cNvCxnSpPr>
          <p:nvPr/>
        </p:nvCxnSpPr>
        <p:spPr>
          <a:xfrm flipV="1">
            <a:off x="3934437" y="1694286"/>
            <a:ext cx="0" cy="446482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A6F05C31-9883-7BB4-061C-0AD00A780809}"/>
              </a:ext>
            </a:extLst>
          </p:cNvPr>
          <p:cNvCxnSpPr>
            <a:cxnSpLocks/>
          </p:cNvCxnSpPr>
          <p:nvPr/>
        </p:nvCxnSpPr>
        <p:spPr>
          <a:xfrm>
            <a:off x="3667563" y="1262572"/>
            <a:ext cx="232636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00EB2DC6-BD95-DFD8-E12B-24175C80DD72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5993932" y="1262572"/>
            <a:ext cx="2276" cy="1913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8A6CF25-576D-FBC9-976A-DFBE4A96E12D}"/>
              </a:ext>
            </a:extLst>
          </p:cNvPr>
          <p:cNvSpPr txBox="1"/>
          <p:nvPr/>
        </p:nvSpPr>
        <p:spPr>
          <a:xfrm>
            <a:off x="7134140" y="6258397"/>
            <a:ext cx="23583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/>
              <a:t>Envía PLAZA_LIBERADA</a:t>
            </a:r>
          </a:p>
        </p:txBody>
      </p:sp>
    </p:spTree>
    <p:extLst>
      <p:ext uri="{BB962C8B-B14F-4D97-AF65-F5344CB8AC3E}">
        <p14:creationId xmlns:p14="http://schemas.microsoft.com/office/powerpoint/2010/main" val="34762630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631a166-2e65-4cca-aaee-1a72fae9f4c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CD56CF61AB49C48A68EB0DFBD9CEB3F" ma:contentTypeVersion="8" ma:contentTypeDescription="Crear nuevo documento." ma:contentTypeScope="" ma:versionID="7489ffac0bf0a3a85d881a7631eb0988">
  <xsd:schema xmlns:xsd="http://www.w3.org/2001/XMLSchema" xmlns:xs="http://www.w3.org/2001/XMLSchema" xmlns:p="http://schemas.microsoft.com/office/2006/metadata/properties" xmlns:ns3="b631a166-2e65-4cca-aaee-1a72fae9f4c5" xmlns:ns4="9c473e44-9621-4bb5-90eb-b2c3f471f0b7" targetNamespace="http://schemas.microsoft.com/office/2006/metadata/properties" ma:root="true" ma:fieldsID="3b3989e4ce0b70d158ede5d9e1d593fc" ns3:_="" ns4:_="">
    <xsd:import namespace="b631a166-2e65-4cca-aaee-1a72fae9f4c5"/>
    <xsd:import namespace="9c473e44-9621-4bb5-90eb-b2c3f471f0b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31a166-2e65-4cca-aaee-1a72fae9f4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473e44-9621-4bb5-90eb-b2c3f471f0b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E46E2A-9846-416B-BE25-2C501335DE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D28C8C5-7161-490D-9A77-A52C354889D7}">
  <ds:schemaRefs>
    <ds:schemaRef ds:uri="http://schemas.microsoft.com/office/infopath/2007/PartnerControls"/>
    <ds:schemaRef ds:uri="http://purl.org/dc/elements/1.1/"/>
    <ds:schemaRef ds:uri="9c473e44-9621-4bb5-90eb-b2c3f471f0b7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b631a166-2e65-4cca-aaee-1a72fae9f4c5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87BB96D-F120-4B19-B820-0BBCA9F26AD8}">
  <ds:schemaRefs>
    <ds:schemaRef ds:uri="9c473e44-9621-4bb5-90eb-b2c3f471f0b7"/>
    <ds:schemaRef ds:uri="b631a166-2e65-4cca-aaee-1a72fae9f4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1379</Words>
  <Application>Microsoft Office PowerPoint</Application>
  <PresentationFormat>Panorámica</PresentationFormat>
  <Paragraphs>165</Paragraphs>
  <Slides>9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Segoe UI</vt:lpstr>
      <vt:lpstr>Trebuchet MS</vt:lpstr>
      <vt:lpstr>Wingdings</vt:lpstr>
      <vt:lpstr>Tema de Office</vt:lpstr>
      <vt:lpstr>Click and Collect​ Inteligente </vt:lpstr>
      <vt:lpstr>El problema de eficiencia del Click and Collect</vt:lpstr>
      <vt:lpstr>Nuestra solución</vt:lpstr>
      <vt:lpstr>Funcionamiento básico</vt:lpstr>
      <vt:lpstr>Como lo hemos desarrollado</vt:lpstr>
      <vt:lpstr>Agente Lector</vt:lpstr>
      <vt:lpstr>Agente de Procesamiento </vt:lpstr>
      <vt:lpstr>Agente de Visualización</vt:lpstr>
      <vt:lpstr>Diagrama de funcionamiento de los agentes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GARROTE MARTIN</dc:creator>
  <cp:lastModifiedBy>IVAN ARIAS DE DIOS</cp:lastModifiedBy>
  <cp:revision>1</cp:revision>
  <dcterms:created xsi:type="dcterms:W3CDTF">2026-05-25T13:00:01Z</dcterms:created>
  <dcterms:modified xsi:type="dcterms:W3CDTF">2026-05-26T14:33:57Z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0x0101004CD56CF61AB49C48A68EB0DFBD9CEB3F</vt:lpwstr>
  </property>
</Properties>
</file>